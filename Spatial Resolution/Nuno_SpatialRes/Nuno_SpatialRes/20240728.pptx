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1" r:id="rId2"/>
    <p:sldId id="378" r:id="rId3"/>
    <p:sldId id="383" r:id="rId4"/>
    <p:sldId id="393" r:id="rId5"/>
    <p:sldId id="380" r:id="rId6"/>
    <p:sldId id="447" r:id="rId7"/>
    <p:sldId id="458" r:id="rId8"/>
    <p:sldId id="446" r:id="rId9"/>
    <p:sldId id="445" r:id="rId10"/>
    <p:sldId id="484" r:id="rId11"/>
    <p:sldId id="394" r:id="rId12"/>
    <p:sldId id="397" r:id="rId13"/>
    <p:sldId id="398" r:id="rId14"/>
    <p:sldId id="399" r:id="rId15"/>
    <p:sldId id="433" r:id="rId16"/>
    <p:sldId id="434" r:id="rId17"/>
    <p:sldId id="435" r:id="rId18"/>
    <p:sldId id="400" r:id="rId19"/>
    <p:sldId id="401" r:id="rId20"/>
    <p:sldId id="402" r:id="rId21"/>
    <p:sldId id="464" r:id="rId22"/>
    <p:sldId id="465" r:id="rId23"/>
    <p:sldId id="466" r:id="rId24"/>
    <p:sldId id="467" r:id="rId25"/>
    <p:sldId id="468" r:id="rId26"/>
    <p:sldId id="469" r:id="rId27"/>
    <p:sldId id="470" r:id="rId28"/>
    <p:sldId id="471" r:id="rId29"/>
    <p:sldId id="472" r:id="rId30"/>
    <p:sldId id="473" r:id="rId31"/>
    <p:sldId id="448" r:id="rId32"/>
    <p:sldId id="449" r:id="rId33"/>
    <p:sldId id="450" r:id="rId34"/>
    <p:sldId id="451" r:id="rId35"/>
    <p:sldId id="452" r:id="rId36"/>
    <p:sldId id="453" r:id="rId37"/>
    <p:sldId id="454" r:id="rId38"/>
    <p:sldId id="455" r:id="rId39"/>
    <p:sldId id="456" r:id="rId40"/>
    <p:sldId id="457" r:id="rId41"/>
    <p:sldId id="474" r:id="rId42"/>
    <p:sldId id="475" r:id="rId43"/>
    <p:sldId id="476" r:id="rId44"/>
    <p:sldId id="477" r:id="rId45"/>
    <p:sldId id="478" r:id="rId46"/>
    <p:sldId id="479" r:id="rId47"/>
    <p:sldId id="480" r:id="rId48"/>
    <p:sldId id="481" r:id="rId49"/>
    <p:sldId id="482" r:id="rId50"/>
    <p:sldId id="483" r:id="rId51"/>
    <p:sldId id="459" r:id="rId52"/>
    <p:sldId id="460" r:id="rId53"/>
    <p:sldId id="461" r:id="rId54"/>
    <p:sldId id="462" r:id="rId55"/>
    <p:sldId id="463" r:id="rId56"/>
    <p:sldId id="485" r:id="rId57"/>
  </p:sldIdLst>
  <p:sldSz cx="12192000" cy="6858000"/>
  <p:notesSz cx="7104063" cy="10234613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F307"/>
    <a:srgbClr val="932600"/>
    <a:srgbClr val="814C14"/>
    <a:srgbClr val="B66C1C"/>
    <a:srgbClr val="398F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6" autoAdjust="0"/>
    <p:restoredTop sz="95366" autoAdjust="0"/>
  </p:normalViewPr>
  <p:slideViewPr>
    <p:cSldViewPr snapToGrid="0">
      <p:cViewPr>
        <p:scale>
          <a:sx n="98" d="100"/>
          <a:sy n="98" d="100"/>
        </p:scale>
        <p:origin x="114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 smtClean="0"/>
              <a:t>Clique para editar o estilo do subtítulo do Modelo Global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3BE-1287-4CA1-865B-12A60C4483CB}" type="datetimeFigureOut">
              <a:rPr lang="pt-PT" smtClean="0"/>
              <a:t>28/07/2024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8EFB-A16A-4185-A29E-EE0B3F0F644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99799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3BE-1287-4CA1-865B-12A60C4483CB}" type="datetimeFigureOut">
              <a:rPr lang="pt-PT" smtClean="0"/>
              <a:t>28/07/2024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8EFB-A16A-4185-A29E-EE0B3F0F644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24164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3BE-1287-4CA1-865B-12A60C4483CB}" type="datetimeFigureOut">
              <a:rPr lang="pt-PT" smtClean="0"/>
              <a:t>28/07/2024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8EFB-A16A-4185-A29E-EE0B3F0F644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4300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3BE-1287-4CA1-865B-12A60C4483CB}" type="datetimeFigureOut">
              <a:rPr lang="pt-PT" smtClean="0"/>
              <a:t>28/07/2024</a:t>
            </a:fld>
            <a:endParaRPr lang="pt-PT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8EFB-A16A-4185-A29E-EE0B3F0F644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78791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3BE-1287-4CA1-865B-12A60C4483CB}" type="datetimeFigureOut">
              <a:rPr lang="pt-PT" smtClean="0"/>
              <a:t>28/07/2024</a:t>
            </a:fld>
            <a:endParaRPr lang="pt-PT" dirty="0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8EFB-A16A-4185-A29E-EE0B3F0F644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561005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3BE-1287-4CA1-865B-12A60C4483CB}" type="datetimeFigureOut">
              <a:rPr lang="pt-PT" smtClean="0"/>
              <a:t>28/07/2024</a:t>
            </a:fld>
            <a:endParaRPr lang="pt-PT" dirty="0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8EFB-A16A-4185-A29E-EE0B3F0F644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49716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3BE-1287-4CA1-865B-12A60C4483CB}" type="datetimeFigureOut">
              <a:rPr lang="pt-PT" smtClean="0"/>
              <a:t>28/07/2024</a:t>
            </a:fld>
            <a:endParaRPr lang="pt-PT" dirty="0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8EFB-A16A-4185-A29E-EE0B3F0F644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74446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3BE-1287-4CA1-865B-12A60C4483CB}" type="datetimeFigureOut">
              <a:rPr lang="pt-PT" smtClean="0"/>
              <a:t>28/07/2024</a:t>
            </a:fld>
            <a:endParaRPr lang="pt-PT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8EFB-A16A-4185-A29E-EE0B3F0F644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5426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3BE-1287-4CA1-865B-12A60C4483CB}" type="datetimeFigureOut">
              <a:rPr lang="pt-PT" smtClean="0"/>
              <a:t>28/07/2024</a:t>
            </a:fld>
            <a:endParaRPr lang="pt-PT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8EFB-A16A-4185-A29E-EE0B3F0F644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803348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3BE-1287-4CA1-865B-12A60C4483CB}" type="datetimeFigureOut">
              <a:rPr lang="pt-PT" smtClean="0"/>
              <a:t>28/07/2024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8EFB-A16A-4185-A29E-EE0B3F0F644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2792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3BE-1287-4CA1-865B-12A60C4483CB}" type="datetimeFigureOut">
              <a:rPr lang="pt-PT" smtClean="0"/>
              <a:t>28/07/2024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88EFB-A16A-4185-A29E-EE0B3F0F644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3128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753BE-1287-4CA1-865B-12A60C4483CB}" type="datetimeFigureOut">
              <a:rPr lang="pt-PT" smtClean="0"/>
              <a:t>28/07/2024</a:t>
            </a:fld>
            <a:endParaRPr lang="pt-PT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8EFB-A16A-4185-A29E-EE0B3F0F6442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77021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PT" sz="6600" dirty="0" err="1" smtClean="0"/>
              <a:t>Image</a:t>
            </a:r>
            <a:r>
              <a:rPr lang="pt-PT" sz="6600" dirty="0" smtClean="0"/>
              <a:t> </a:t>
            </a:r>
            <a:r>
              <a:rPr lang="pt-PT" sz="6600" dirty="0" err="1" smtClean="0"/>
              <a:t>reconstruction</a:t>
            </a:r>
            <a:r>
              <a:rPr lang="pt-PT" sz="6600" dirty="0" smtClean="0"/>
              <a:t/>
            </a:r>
            <a:br>
              <a:rPr lang="pt-PT" sz="6600" dirty="0" smtClean="0"/>
            </a:br>
            <a:r>
              <a:rPr lang="pt-PT" sz="4000" dirty="0" smtClean="0"/>
              <a:t>28/7/2024</a:t>
            </a:r>
            <a:r>
              <a:rPr lang="pt-PT" sz="4000" dirty="0" smtClean="0"/>
              <a:t>, TPPT </a:t>
            </a:r>
            <a:r>
              <a:rPr lang="pt-PT" sz="4000" dirty="0" err="1" smtClean="0"/>
              <a:t>project</a:t>
            </a:r>
            <a:endParaRPr lang="pt-PT" sz="40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 dirty="0" smtClean="0"/>
          </a:p>
          <a:p>
            <a:endParaRPr lang="pt-PT" dirty="0"/>
          </a:p>
          <a:p>
            <a:endParaRPr lang="pt-PT" dirty="0" smtClean="0"/>
          </a:p>
          <a:p>
            <a:endParaRPr lang="pt-PT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1500" y="6309628"/>
            <a:ext cx="3023846" cy="49130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55" y="6309628"/>
            <a:ext cx="1099289" cy="483326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64458" y="6420486"/>
            <a:ext cx="607859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050" b="1" dirty="0" smtClean="0">
                <a:solidFill>
                  <a:srgbClr val="398F68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ICNAS</a:t>
            </a:r>
            <a:endParaRPr lang="pt-PT" sz="1050" b="1" dirty="0">
              <a:solidFill>
                <a:srgbClr val="398F68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238201" y="4595853"/>
            <a:ext cx="1715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 smtClean="0"/>
              <a:t>Nuno C. Ferreira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50318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Summary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1140440" cy="4666615"/>
          </a:xfrm>
        </p:spPr>
        <p:txBody>
          <a:bodyPr>
            <a:normAutofit/>
          </a:bodyPr>
          <a:lstStyle/>
          <a:p>
            <a:r>
              <a:rPr lang="pt-PT" dirty="0" smtClean="0"/>
              <a:t>NEMA-</a:t>
            </a:r>
            <a:r>
              <a:rPr lang="pt-PT" dirty="0" err="1" smtClean="0"/>
              <a:t>like</a:t>
            </a:r>
            <a:r>
              <a:rPr lang="pt-PT" dirty="0" smtClean="0"/>
              <a:t> FWHM </a:t>
            </a:r>
            <a:r>
              <a:rPr lang="pt-PT" dirty="0" err="1" smtClean="0"/>
              <a:t>and</a:t>
            </a:r>
            <a:r>
              <a:rPr lang="pt-PT" dirty="0" smtClean="0"/>
              <a:t> FWTM for linear </a:t>
            </a:r>
            <a:r>
              <a:rPr lang="pt-PT" dirty="0" err="1" smtClean="0"/>
              <a:t>source</a:t>
            </a:r>
            <a:r>
              <a:rPr lang="pt-PT" dirty="0" smtClean="0"/>
              <a:t> in </a:t>
            </a:r>
            <a:r>
              <a:rPr lang="pt-PT" dirty="0" err="1" smtClean="0"/>
              <a:t>specific</a:t>
            </a:r>
            <a:r>
              <a:rPr lang="pt-PT" dirty="0" smtClean="0"/>
              <a:t> </a:t>
            </a:r>
            <a:r>
              <a:rPr lang="pt-PT" dirty="0" err="1" smtClean="0"/>
              <a:t>points</a:t>
            </a:r>
            <a:r>
              <a:rPr lang="pt-PT" dirty="0" smtClean="0"/>
              <a:t> </a:t>
            </a:r>
            <a:r>
              <a:rPr lang="pt-PT" dirty="0" err="1" smtClean="0"/>
              <a:t>of</a:t>
            </a:r>
            <a:r>
              <a:rPr lang="pt-PT" dirty="0" smtClean="0"/>
              <a:t> </a:t>
            </a:r>
            <a:r>
              <a:rPr lang="pt-PT" dirty="0" err="1" smtClean="0"/>
              <a:t>the</a:t>
            </a:r>
            <a:r>
              <a:rPr lang="pt-PT" dirty="0" smtClean="0"/>
              <a:t> FOV </a:t>
            </a:r>
            <a:r>
              <a:rPr lang="pt-PT" dirty="0"/>
              <a:t>(</a:t>
            </a:r>
            <a:r>
              <a:rPr lang="pt-PT" dirty="0" smtClean="0"/>
              <a:t>9 </a:t>
            </a:r>
            <a:r>
              <a:rPr lang="pt-PT" dirty="0" err="1" smtClean="0"/>
              <a:t>positions</a:t>
            </a:r>
            <a:r>
              <a:rPr lang="pt-PT" dirty="0" smtClean="0"/>
              <a:t>):</a:t>
            </a:r>
          </a:p>
          <a:p>
            <a:pPr lvl="1"/>
            <a:endParaRPr lang="pt-PT" dirty="0"/>
          </a:p>
          <a:p>
            <a:pPr lvl="1"/>
            <a:endParaRPr lang="pt-PT" dirty="0" smtClean="0"/>
          </a:p>
          <a:p>
            <a:pPr lvl="1"/>
            <a:endParaRPr lang="pt-PT" dirty="0"/>
          </a:p>
          <a:p>
            <a:pPr marL="457200" lvl="1" indent="0">
              <a:buNone/>
            </a:pPr>
            <a:endParaRPr lang="pt-PT" dirty="0" smtClean="0"/>
          </a:p>
          <a:p>
            <a:pPr marL="457200" lvl="1" indent="0">
              <a:buNone/>
            </a:pPr>
            <a:endParaRPr lang="pt-PT" dirty="0"/>
          </a:p>
          <a:p>
            <a:pPr marL="457200" lvl="1" indent="0">
              <a:buNone/>
            </a:pPr>
            <a:endParaRPr lang="pt-PT" dirty="0" smtClean="0"/>
          </a:p>
          <a:p>
            <a:pPr marL="457200" lvl="1" indent="0">
              <a:buNone/>
            </a:pPr>
            <a:endParaRPr lang="pt-PT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925" y="2626071"/>
            <a:ext cx="3486150" cy="3514725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8258783" y="3783268"/>
            <a:ext cx="3719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smtClean="0">
                <a:solidFill>
                  <a:schemeClr val="accent2"/>
                </a:solidFill>
              </a:rPr>
              <a:t>(</a:t>
            </a:r>
            <a:r>
              <a:rPr lang="pt-PT" b="1" dirty="0" smtClean="0">
                <a:solidFill>
                  <a:schemeClr val="accent2"/>
                </a:solidFill>
              </a:rPr>
              <a:t>Note</a:t>
            </a:r>
            <a:r>
              <a:rPr lang="pt-PT" dirty="0" smtClean="0">
                <a:solidFill>
                  <a:schemeClr val="accent2"/>
                </a:solidFill>
              </a:rPr>
              <a:t>: </a:t>
            </a:r>
            <a:r>
              <a:rPr lang="pt-PT" dirty="0" err="1" smtClean="0">
                <a:solidFill>
                  <a:schemeClr val="accent2"/>
                </a:solidFill>
              </a:rPr>
              <a:t>the</a:t>
            </a:r>
            <a:r>
              <a:rPr lang="pt-PT" dirty="0" smtClean="0">
                <a:solidFill>
                  <a:schemeClr val="accent2"/>
                </a:solidFill>
              </a:rPr>
              <a:t> FBP </a:t>
            </a:r>
            <a:r>
              <a:rPr lang="pt-PT" dirty="0" err="1" smtClean="0">
                <a:solidFill>
                  <a:schemeClr val="accent2"/>
                </a:solidFill>
              </a:rPr>
              <a:t>reconstructed</a:t>
            </a:r>
            <a:r>
              <a:rPr lang="pt-PT" dirty="0" smtClean="0">
                <a:solidFill>
                  <a:schemeClr val="accent2"/>
                </a:solidFill>
              </a:rPr>
              <a:t> </a:t>
            </a:r>
            <a:r>
              <a:rPr lang="pt-PT" dirty="0" err="1" smtClean="0">
                <a:solidFill>
                  <a:schemeClr val="accent2"/>
                </a:solidFill>
              </a:rPr>
              <a:t>images</a:t>
            </a:r>
            <a:r>
              <a:rPr lang="pt-PT" dirty="0" smtClean="0">
                <a:solidFill>
                  <a:schemeClr val="accent2"/>
                </a:solidFill>
              </a:rPr>
              <a:t> </a:t>
            </a:r>
            <a:r>
              <a:rPr lang="pt-PT" dirty="0" err="1" smtClean="0">
                <a:solidFill>
                  <a:schemeClr val="accent2"/>
                </a:solidFill>
              </a:rPr>
              <a:t>were</a:t>
            </a:r>
            <a:r>
              <a:rPr lang="pt-PT" dirty="0" smtClean="0">
                <a:solidFill>
                  <a:schemeClr val="accent2"/>
                </a:solidFill>
              </a:rPr>
              <a:t> </a:t>
            </a:r>
            <a:r>
              <a:rPr lang="pt-PT" b="1" dirty="0" err="1" smtClean="0">
                <a:solidFill>
                  <a:schemeClr val="accent2"/>
                </a:solidFill>
              </a:rPr>
              <a:t>rotated</a:t>
            </a:r>
            <a:r>
              <a:rPr lang="pt-PT" b="1" dirty="0" smtClean="0">
                <a:solidFill>
                  <a:schemeClr val="accent2"/>
                </a:solidFill>
              </a:rPr>
              <a:t> 180 </a:t>
            </a:r>
            <a:r>
              <a:rPr lang="pt-PT" b="1" dirty="0" err="1" smtClean="0">
                <a:solidFill>
                  <a:schemeClr val="accent2"/>
                </a:solidFill>
              </a:rPr>
              <a:t>degrees</a:t>
            </a:r>
            <a:r>
              <a:rPr lang="pt-PT" dirty="0" smtClean="0">
                <a:solidFill>
                  <a:schemeClr val="accent2"/>
                </a:solidFill>
              </a:rPr>
              <a:t> to </a:t>
            </a:r>
            <a:r>
              <a:rPr lang="pt-PT" dirty="0" err="1" smtClean="0">
                <a:solidFill>
                  <a:schemeClr val="accent2"/>
                </a:solidFill>
              </a:rPr>
              <a:t>make</a:t>
            </a:r>
            <a:r>
              <a:rPr lang="pt-PT" dirty="0" smtClean="0">
                <a:solidFill>
                  <a:schemeClr val="accent2"/>
                </a:solidFill>
              </a:rPr>
              <a:t> </a:t>
            </a:r>
            <a:r>
              <a:rPr lang="pt-PT" dirty="0" err="1" smtClean="0">
                <a:solidFill>
                  <a:schemeClr val="accent2"/>
                </a:solidFill>
              </a:rPr>
              <a:t>it</a:t>
            </a:r>
            <a:r>
              <a:rPr lang="pt-PT" dirty="0" smtClean="0">
                <a:solidFill>
                  <a:schemeClr val="accent2"/>
                </a:solidFill>
              </a:rPr>
              <a:t> </a:t>
            </a:r>
            <a:r>
              <a:rPr lang="pt-PT" dirty="0" err="1" smtClean="0">
                <a:solidFill>
                  <a:schemeClr val="accent2"/>
                </a:solidFill>
              </a:rPr>
              <a:t>correspond</a:t>
            </a:r>
            <a:r>
              <a:rPr lang="pt-PT" dirty="0" smtClean="0">
                <a:solidFill>
                  <a:schemeClr val="accent2"/>
                </a:solidFill>
              </a:rPr>
              <a:t> to </a:t>
            </a:r>
            <a:r>
              <a:rPr lang="pt-PT" dirty="0" err="1" smtClean="0">
                <a:solidFill>
                  <a:schemeClr val="accent2"/>
                </a:solidFill>
              </a:rPr>
              <a:t>the</a:t>
            </a:r>
            <a:r>
              <a:rPr lang="pt-PT" dirty="0" smtClean="0">
                <a:solidFill>
                  <a:schemeClr val="accent2"/>
                </a:solidFill>
              </a:rPr>
              <a:t> </a:t>
            </a:r>
            <a:r>
              <a:rPr lang="pt-PT" dirty="0" err="1" smtClean="0">
                <a:solidFill>
                  <a:schemeClr val="accent2"/>
                </a:solidFill>
              </a:rPr>
              <a:t>positions</a:t>
            </a:r>
            <a:r>
              <a:rPr lang="pt-PT" dirty="0" smtClean="0">
                <a:solidFill>
                  <a:schemeClr val="accent2"/>
                </a:solidFill>
              </a:rPr>
              <a:t> in </a:t>
            </a:r>
            <a:r>
              <a:rPr lang="pt-PT" dirty="0" err="1" smtClean="0">
                <a:solidFill>
                  <a:schemeClr val="accent2"/>
                </a:solidFill>
              </a:rPr>
              <a:t>this</a:t>
            </a:r>
            <a:r>
              <a:rPr lang="pt-PT" dirty="0" smtClean="0">
                <a:solidFill>
                  <a:schemeClr val="accent2"/>
                </a:solidFill>
              </a:rPr>
              <a:t> </a:t>
            </a:r>
            <a:r>
              <a:rPr lang="pt-PT" dirty="0" err="1" smtClean="0">
                <a:solidFill>
                  <a:schemeClr val="accent2"/>
                </a:solidFill>
              </a:rPr>
              <a:t>diagram</a:t>
            </a:r>
            <a:r>
              <a:rPr lang="pt-PT" dirty="0" smtClean="0">
                <a:solidFill>
                  <a:schemeClr val="accent2"/>
                </a:solidFill>
              </a:rPr>
              <a:t>.)</a:t>
            </a:r>
            <a:endParaRPr lang="pt-PT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44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5765"/>
            <a:ext cx="10515600" cy="1325563"/>
          </a:xfrm>
        </p:spPr>
        <p:txBody>
          <a:bodyPr>
            <a:normAutofit/>
          </a:bodyPr>
          <a:lstStyle/>
          <a:p>
            <a:r>
              <a:rPr lang="pt-PT" sz="4000" dirty="0" err="1" smtClean="0"/>
              <a:t>Limitations</a:t>
            </a:r>
            <a:endParaRPr lang="pt-PT" sz="4000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838200" y="1381328"/>
            <a:ext cx="10941996" cy="5110911"/>
          </a:xfrm>
        </p:spPr>
        <p:txBody>
          <a:bodyPr>
            <a:normAutofit/>
          </a:bodyPr>
          <a:lstStyle/>
          <a:p>
            <a:r>
              <a:rPr lang="pt-PT" dirty="0" err="1" smtClean="0"/>
              <a:t>Limitation</a:t>
            </a:r>
            <a:r>
              <a:rPr lang="pt-PT" dirty="0" smtClean="0"/>
              <a:t>: </a:t>
            </a:r>
          </a:p>
          <a:p>
            <a:pPr lvl="1"/>
            <a:r>
              <a:rPr lang="pt-PT" dirty="0" smtClean="0"/>
              <a:t>Non-TOF </a:t>
            </a:r>
            <a:r>
              <a:rPr lang="pt-PT" dirty="0" err="1" smtClean="0"/>
              <a:t>only</a:t>
            </a:r>
            <a:r>
              <a:rPr lang="pt-PT" dirty="0" smtClean="0"/>
              <a:t> </a:t>
            </a:r>
          </a:p>
          <a:p>
            <a:pPr lvl="2"/>
            <a:r>
              <a:rPr lang="pt-PT" dirty="0" err="1">
                <a:solidFill>
                  <a:schemeClr val="bg1">
                    <a:lumMod val="65000"/>
                  </a:schemeClr>
                </a:solidFill>
              </a:rPr>
              <a:t>s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hould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not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be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very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different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with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TOF</a:t>
            </a:r>
          </a:p>
          <a:p>
            <a:r>
              <a:rPr lang="pt-PT" dirty="0" err="1" smtClean="0"/>
              <a:t>Differences</a:t>
            </a:r>
            <a:r>
              <a:rPr lang="pt-PT" dirty="0" smtClean="0"/>
              <a:t> </a:t>
            </a:r>
            <a:r>
              <a:rPr lang="pt-PT" dirty="0" err="1" smtClean="0"/>
              <a:t>relative</a:t>
            </a:r>
            <a:r>
              <a:rPr lang="pt-PT" dirty="0" smtClean="0"/>
              <a:t> to </a:t>
            </a:r>
            <a:r>
              <a:rPr lang="pt-PT" dirty="0" err="1" smtClean="0"/>
              <a:t>the</a:t>
            </a:r>
            <a:r>
              <a:rPr lang="pt-PT" dirty="0" smtClean="0"/>
              <a:t> NEMA standard</a:t>
            </a:r>
          </a:p>
          <a:p>
            <a:pPr lvl="1"/>
            <a:r>
              <a:rPr lang="pt-PT" dirty="0" err="1" smtClean="0"/>
              <a:t>Plot</a:t>
            </a:r>
            <a:r>
              <a:rPr lang="pt-PT" dirty="0" smtClean="0"/>
              <a:t> </a:t>
            </a:r>
            <a:r>
              <a:rPr lang="pt-PT" dirty="0" smtClean="0"/>
              <a:t>range </a:t>
            </a:r>
            <a:r>
              <a:rPr lang="pt-PT" dirty="0" err="1" smtClean="0"/>
              <a:t>should</a:t>
            </a:r>
            <a:r>
              <a:rPr lang="pt-PT" dirty="0" smtClean="0"/>
              <a:t> </a:t>
            </a:r>
            <a:r>
              <a:rPr lang="pt-PT" dirty="0" err="1" smtClean="0"/>
              <a:t>be</a:t>
            </a:r>
            <a:r>
              <a:rPr lang="pt-PT" dirty="0" smtClean="0"/>
              <a:t> </a:t>
            </a:r>
            <a:r>
              <a:rPr lang="pt-PT" dirty="0" err="1" smtClean="0"/>
              <a:t>approx</a:t>
            </a:r>
            <a:r>
              <a:rPr lang="pt-PT" dirty="0" smtClean="0"/>
              <a:t> 2x </a:t>
            </a:r>
            <a:r>
              <a:rPr lang="pt-PT" dirty="0" err="1" smtClean="0"/>
              <a:t>the</a:t>
            </a:r>
            <a:r>
              <a:rPr lang="pt-PT" dirty="0" smtClean="0"/>
              <a:t> FWHM</a:t>
            </a:r>
          </a:p>
          <a:p>
            <a:pPr lvl="2"/>
            <a:r>
              <a:rPr lang="pt-PT" dirty="0" err="1">
                <a:solidFill>
                  <a:schemeClr val="bg1">
                    <a:lumMod val="65000"/>
                  </a:schemeClr>
                </a:solidFill>
              </a:rPr>
              <a:t>t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his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is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ac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cording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to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the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NEMA standard,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but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I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disregarded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that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. </a:t>
            </a:r>
            <a:br>
              <a:rPr lang="pt-PT" dirty="0" smtClean="0">
                <a:solidFill>
                  <a:schemeClr val="bg1">
                    <a:lumMod val="65000"/>
                  </a:schemeClr>
                </a:solidFill>
              </a:rPr>
            </a:b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I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am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plotting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a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fixed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range (20mm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on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each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side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of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the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peak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).</a:t>
            </a:r>
            <a:endParaRPr lang="pt-PT" dirty="0" smtClean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pt-PT" dirty="0" err="1" smtClean="0"/>
              <a:t>Positions</a:t>
            </a:r>
            <a:r>
              <a:rPr lang="pt-PT" dirty="0" smtClean="0"/>
              <a:t> </a:t>
            </a:r>
            <a:r>
              <a:rPr lang="pt-PT" dirty="0" err="1" smtClean="0"/>
              <a:t>and</a:t>
            </a:r>
            <a:r>
              <a:rPr lang="pt-PT" dirty="0" smtClean="0"/>
              <a:t> </a:t>
            </a:r>
            <a:r>
              <a:rPr lang="pt-PT" dirty="0" err="1" smtClean="0"/>
              <a:t>type</a:t>
            </a:r>
            <a:r>
              <a:rPr lang="pt-PT" dirty="0" smtClean="0"/>
              <a:t> </a:t>
            </a:r>
            <a:r>
              <a:rPr lang="pt-PT" dirty="0" err="1" smtClean="0"/>
              <a:t>of</a:t>
            </a:r>
            <a:r>
              <a:rPr lang="pt-PT" dirty="0" smtClean="0"/>
              <a:t> </a:t>
            </a:r>
            <a:r>
              <a:rPr lang="pt-PT" dirty="0" err="1" smtClean="0"/>
              <a:t>source</a:t>
            </a:r>
            <a:r>
              <a:rPr lang="pt-PT" dirty="0" smtClean="0"/>
              <a:t> </a:t>
            </a:r>
            <a:r>
              <a:rPr lang="pt-PT" dirty="0" err="1" smtClean="0"/>
              <a:t>is</a:t>
            </a:r>
            <a:r>
              <a:rPr lang="pt-PT" dirty="0" smtClean="0"/>
              <a:t> </a:t>
            </a:r>
            <a:r>
              <a:rPr lang="pt-PT" dirty="0" err="1" smtClean="0"/>
              <a:t>not</a:t>
            </a:r>
            <a:r>
              <a:rPr lang="pt-PT" dirty="0" smtClean="0"/>
              <a:t> </a:t>
            </a:r>
            <a:r>
              <a:rPr lang="pt-PT" dirty="0" smtClean="0"/>
              <a:t>as </a:t>
            </a:r>
            <a:r>
              <a:rPr lang="pt-PT" dirty="0" err="1" smtClean="0"/>
              <a:t>specified</a:t>
            </a:r>
            <a:r>
              <a:rPr lang="pt-PT" dirty="0" smtClean="0"/>
              <a:t> in NEMA</a:t>
            </a:r>
          </a:p>
          <a:p>
            <a:pPr lvl="2"/>
            <a:r>
              <a:rPr lang="pt-PT" dirty="0" err="1">
                <a:solidFill>
                  <a:schemeClr val="bg1">
                    <a:lumMod val="65000"/>
                  </a:schemeClr>
                </a:solidFill>
              </a:rPr>
              <a:t>h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ere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I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am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using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the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9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positions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of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the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previous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slide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pt-PT" dirty="0"/>
          </a:p>
          <a:p>
            <a:pPr lvl="1"/>
            <a:endParaRPr lang="pt-PT" dirty="0" smtClean="0"/>
          </a:p>
          <a:p>
            <a:pPr lvl="1"/>
            <a:endParaRPr lang="pt-PT" dirty="0"/>
          </a:p>
          <a:p>
            <a:pPr marL="457200" lvl="1" indent="0">
              <a:buNone/>
            </a:pPr>
            <a:endParaRPr lang="pt-PT" dirty="0" smtClean="0"/>
          </a:p>
          <a:p>
            <a:pPr marL="457200" lvl="1" indent="0">
              <a:buNone/>
            </a:pPr>
            <a:endParaRPr lang="pt-PT" dirty="0"/>
          </a:p>
          <a:p>
            <a:pPr marL="457200" lvl="1" indent="0">
              <a:buNone/>
            </a:pPr>
            <a:endParaRPr lang="pt-PT" dirty="0" smtClean="0"/>
          </a:p>
          <a:p>
            <a:pPr marL="457200" lvl="1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8985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838200" y="311285"/>
            <a:ext cx="10515600" cy="5865678"/>
          </a:xfrm>
        </p:spPr>
        <p:txBody>
          <a:bodyPr/>
          <a:lstStyle/>
          <a:p>
            <a:r>
              <a:rPr lang="pt-PT" dirty="0" err="1" smtClean="0"/>
              <a:t>This</a:t>
            </a:r>
            <a:r>
              <a:rPr lang="pt-PT" dirty="0" smtClean="0"/>
              <a:t> </a:t>
            </a:r>
            <a:r>
              <a:rPr lang="pt-PT" b="1" dirty="0" smtClean="0"/>
              <a:t>NEMA </a:t>
            </a:r>
            <a:r>
              <a:rPr lang="pt-PT" b="1" dirty="0" err="1" smtClean="0"/>
              <a:t>requirement</a:t>
            </a:r>
            <a:r>
              <a:rPr lang="pt-PT" b="1" dirty="0" smtClean="0"/>
              <a:t> </a:t>
            </a:r>
            <a:r>
              <a:rPr lang="pt-PT" dirty="0" err="1" smtClean="0"/>
              <a:t>has</a:t>
            </a:r>
            <a:r>
              <a:rPr lang="pt-PT" dirty="0" smtClean="0"/>
              <a:t> </a:t>
            </a:r>
            <a:r>
              <a:rPr lang="pt-PT" dirty="0" err="1" smtClean="0"/>
              <a:t>now</a:t>
            </a:r>
            <a:r>
              <a:rPr lang="pt-PT" dirty="0" smtClean="0"/>
              <a:t> </a:t>
            </a:r>
            <a:r>
              <a:rPr lang="pt-PT" dirty="0" err="1" smtClean="0"/>
              <a:t>been</a:t>
            </a:r>
            <a:r>
              <a:rPr lang="pt-PT" dirty="0" smtClean="0"/>
              <a:t> </a:t>
            </a:r>
            <a:r>
              <a:rPr lang="pt-PT" dirty="0" err="1" smtClean="0"/>
              <a:t>implemented</a:t>
            </a:r>
            <a:r>
              <a:rPr lang="pt-PT" dirty="0" smtClean="0"/>
              <a:t>:</a:t>
            </a:r>
            <a:endParaRPr lang="pt-PT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003" y="848637"/>
            <a:ext cx="4408871" cy="479097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Conexão reta unidirecional 5"/>
          <p:cNvCxnSpPr/>
          <p:nvPr/>
        </p:nvCxnSpPr>
        <p:spPr>
          <a:xfrm>
            <a:off x="2986391" y="848637"/>
            <a:ext cx="6789907" cy="2351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5315748" y="926459"/>
            <a:ext cx="2359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 err="1" smtClean="0">
                <a:solidFill>
                  <a:schemeClr val="accent1"/>
                </a:solidFill>
              </a:rPr>
              <a:t>Parabolic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fit</a:t>
            </a:r>
            <a:r>
              <a:rPr lang="pt-PT" sz="1400" dirty="0" smtClean="0">
                <a:solidFill>
                  <a:schemeClr val="accent1"/>
                </a:solidFill>
              </a:rPr>
              <a:t> to </a:t>
            </a:r>
            <a:r>
              <a:rPr lang="pt-PT" sz="1400" dirty="0" err="1" smtClean="0">
                <a:solidFill>
                  <a:schemeClr val="accent1"/>
                </a:solidFill>
              </a:rPr>
              <a:t>find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the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peak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based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on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the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max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and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one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neighbor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on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each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side</a:t>
            </a:r>
            <a:endParaRPr lang="pt-PT" sz="1400" dirty="0">
              <a:solidFill>
                <a:schemeClr val="accent1"/>
              </a:solidFill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3"/>
          <a:srcRect t="3507"/>
          <a:stretch/>
        </p:blipFill>
        <p:spPr>
          <a:xfrm>
            <a:off x="0" y="1814650"/>
            <a:ext cx="5058383" cy="5043349"/>
          </a:xfrm>
          <a:prstGeom prst="rect">
            <a:avLst/>
          </a:prstGeom>
        </p:spPr>
      </p:pic>
      <p:cxnSp>
        <p:nvCxnSpPr>
          <p:cNvPr id="12" name="Conexão reta unidirecional 11"/>
          <p:cNvCxnSpPr/>
          <p:nvPr/>
        </p:nvCxnSpPr>
        <p:spPr>
          <a:xfrm flipH="1" flipV="1">
            <a:off x="2924033" y="2405418"/>
            <a:ext cx="2426180" cy="610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5435221" y="3043451"/>
            <a:ext cx="199671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 smtClean="0">
                <a:solidFill>
                  <a:schemeClr val="accent1"/>
                </a:solidFill>
              </a:rPr>
              <a:t>For </a:t>
            </a:r>
            <a:r>
              <a:rPr lang="pt-PT" sz="1400" dirty="0" err="1" smtClean="0">
                <a:solidFill>
                  <a:schemeClr val="accent1"/>
                </a:solidFill>
              </a:rPr>
              <a:t>reference</a:t>
            </a:r>
            <a:r>
              <a:rPr lang="pt-PT" sz="1400" dirty="0" smtClean="0">
                <a:solidFill>
                  <a:schemeClr val="accent1"/>
                </a:solidFill>
              </a:rPr>
              <a:t>, </a:t>
            </a:r>
            <a:r>
              <a:rPr lang="pt-PT" sz="1400" dirty="0" err="1" smtClean="0">
                <a:solidFill>
                  <a:schemeClr val="accent1"/>
                </a:solidFill>
              </a:rPr>
              <a:t>if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needed</a:t>
            </a:r>
            <a:r>
              <a:rPr lang="pt-PT" sz="1400" dirty="0" smtClean="0">
                <a:solidFill>
                  <a:schemeClr val="accent1"/>
                </a:solidFill>
              </a:rPr>
              <a:t>, </a:t>
            </a:r>
            <a:r>
              <a:rPr lang="pt-PT" sz="1400" dirty="0" err="1" smtClean="0">
                <a:solidFill>
                  <a:schemeClr val="accent1"/>
                </a:solidFill>
              </a:rPr>
              <a:t>the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position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of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the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peak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that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was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found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using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the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parabolic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fit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is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shown</a:t>
            </a:r>
            <a:r>
              <a:rPr lang="pt-PT" sz="1400" dirty="0" smtClean="0">
                <a:solidFill>
                  <a:schemeClr val="accent1"/>
                </a:solidFill>
              </a:rPr>
              <a:t> as a </a:t>
            </a:r>
            <a:r>
              <a:rPr lang="pt-PT" sz="1400" dirty="0" err="1" smtClean="0">
                <a:solidFill>
                  <a:schemeClr val="accent1"/>
                </a:solidFill>
              </a:rPr>
              <a:t>very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subtle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orange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point</a:t>
            </a:r>
            <a:r>
              <a:rPr lang="pt-PT" sz="1400" dirty="0" smtClean="0">
                <a:solidFill>
                  <a:schemeClr val="accent1"/>
                </a:solidFill>
              </a:rPr>
              <a:t> in </a:t>
            </a:r>
            <a:r>
              <a:rPr lang="pt-PT" sz="1400" dirty="0" err="1" smtClean="0">
                <a:solidFill>
                  <a:schemeClr val="accent1"/>
                </a:solidFill>
              </a:rPr>
              <a:t>the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plots</a:t>
            </a:r>
            <a:r>
              <a:rPr lang="pt-PT" sz="1400" dirty="0" smtClean="0">
                <a:solidFill>
                  <a:schemeClr val="accent1"/>
                </a:solidFill>
              </a:rPr>
              <a:t>. </a:t>
            </a:r>
            <a:r>
              <a:rPr lang="pt-PT" sz="1400" dirty="0" err="1" smtClean="0">
                <a:solidFill>
                  <a:schemeClr val="accent1"/>
                </a:solidFill>
              </a:rPr>
              <a:t>Sometimes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it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is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indistinguishable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from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the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maximum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of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the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plot</a:t>
            </a:r>
            <a:r>
              <a:rPr lang="pt-PT" sz="1400" dirty="0" smtClean="0">
                <a:solidFill>
                  <a:schemeClr val="accent1"/>
                </a:solidFill>
              </a:rPr>
              <a:t>. </a:t>
            </a:r>
            <a:endParaRPr lang="pt-PT" sz="1400" dirty="0">
              <a:solidFill>
                <a:schemeClr val="accent1"/>
              </a:solidFill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8998085" y="1079770"/>
            <a:ext cx="554477" cy="155643"/>
          </a:xfrm>
          <a:prstGeom prst="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7" name="Conexão reta unidirecional 16"/>
          <p:cNvCxnSpPr/>
          <p:nvPr/>
        </p:nvCxnSpPr>
        <p:spPr>
          <a:xfrm flipH="1" flipV="1">
            <a:off x="3287949" y="5639610"/>
            <a:ext cx="2334638" cy="391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xão reta unidirecional 18"/>
          <p:cNvCxnSpPr/>
          <p:nvPr/>
        </p:nvCxnSpPr>
        <p:spPr>
          <a:xfrm flipH="1" flipV="1">
            <a:off x="2723745" y="5639610"/>
            <a:ext cx="2898842" cy="391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5622587" y="5884028"/>
            <a:ext cx="6478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 err="1">
                <a:solidFill>
                  <a:schemeClr val="accent1"/>
                </a:solidFill>
              </a:rPr>
              <a:t>t</a:t>
            </a:r>
            <a:r>
              <a:rPr lang="pt-PT" sz="1400" dirty="0" err="1" smtClean="0">
                <a:solidFill>
                  <a:schemeClr val="accent1"/>
                </a:solidFill>
              </a:rPr>
              <a:t>hese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undershoots</a:t>
            </a:r>
            <a:r>
              <a:rPr lang="pt-PT" sz="1400" dirty="0" smtClean="0">
                <a:solidFill>
                  <a:schemeClr val="accent1"/>
                </a:solidFill>
              </a:rPr>
              <a:t> in </a:t>
            </a:r>
            <a:r>
              <a:rPr lang="pt-PT" sz="1400" dirty="0" err="1" smtClean="0">
                <a:solidFill>
                  <a:schemeClr val="accent1"/>
                </a:solidFill>
              </a:rPr>
              <a:t>the</a:t>
            </a:r>
            <a:r>
              <a:rPr lang="pt-PT" sz="1400" dirty="0" smtClean="0">
                <a:solidFill>
                  <a:schemeClr val="accent1"/>
                </a:solidFill>
              </a:rPr>
              <a:t> Y </a:t>
            </a:r>
            <a:r>
              <a:rPr lang="pt-PT" sz="1400" dirty="0" err="1" smtClean="0">
                <a:solidFill>
                  <a:schemeClr val="accent1"/>
                </a:solidFill>
              </a:rPr>
              <a:t>profiles</a:t>
            </a:r>
            <a:r>
              <a:rPr lang="pt-PT" sz="1400" dirty="0" smtClean="0">
                <a:solidFill>
                  <a:schemeClr val="accent1"/>
                </a:solidFill>
              </a:rPr>
              <a:t> are </a:t>
            </a:r>
            <a:r>
              <a:rPr lang="pt-PT" sz="1400" dirty="0" err="1" smtClean="0">
                <a:solidFill>
                  <a:schemeClr val="accent1"/>
                </a:solidFill>
              </a:rPr>
              <a:t>mainly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due</a:t>
            </a:r>
            <a:r>
              <a:rPr lang="pt-PT" sz="1400" dirty="0" smtClean="0">
                <a:solidFill>
                  <a:schemeClr val="accent1"/>
                </a:solidFill>
              </a:rPr>
              <a:t> to </a:t>
            </a:r>
            <a:r>
              <a:rPr lang="pt-PT" sz="1400" dirty="0" err="1" smtClean="0">
                <a:solidFill>
                  <a:schemeClr val="accent1"/>
                </a:solidFill>
              </a:rPr>
              <a:t>the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incomplete</a:t>
            </a:r>
            <a:r>
              <a:rPr lang="pt-PT" sz="1400" dirty="0" smtClean="0">
                <a:solidFill>
                  <a:schemeClr val="accent1"/>
                </a:solidFill>
              </a:rPr>
              <a:t> ring </a:t>
            </a:r>
            <a:r>
              <a:rPr lang="pt-PT" sz="1400" dirty="0" err="1" smtClean="0">
                <a:solidFill>
                  <a:schemeClr val="accent1"/>
                </a:solidFill>
              </a:rPr>
              <a:t>of</a:t>
            </a:r>
            <a:r>
              <a:rPr lang="pt-PT" sz="1400" dirty="0" smtClean="0">
                <a:solidFill>
                  <a:schemeClr val="accent1"/>
                </a:solidFill>
              </a:rPr>
              <a:t> TPPT, </a:t>
            </a:r>
            <a:r>
              <a:rPr lang="pt-PT" sz="1400" dirty="0" err="1" smtClean="0">
                <a:solidFill>
                  <a:schemeClr val="accent1"/>
                </a:solidFill>
              </a:rPr>
              <a:t>which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is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inconsistent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with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what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the</a:t>
            </a:r>
            <a:r>
              <a:rPr lang="pt-PT" sz="1400" dirty="0" smtClean="0">
                <a:solidFill>
                  <a:schemeClr val="accent1"/>
                </a:solidFill>
              </a:rPr>
              <a:t> FBP </a:t>
            </a:r>
            <a:r>
              <a:rPr lang="pt-PT" sz="1400" dirty="0" err="1" smtClean="0">
                <a:solidFill>
                  <a:schemeClr val="accent1"/>
                </a:solidFill>
              </a:rPr>
              <a:t>algorithm</a:t>
            </a:r>
            <a:r>
              <a:rPr lang="pt-PT" sz="1400" dirty="0" smtClean="0">
                <a:solidFill>
                  <a:schemeClr val="accent1"/>
                </a:solidFill>
              </a:rPr>
              <a:t> </a:t>
            </a:r>
            <a:r>
              <a:rPr lang="pt-PT" sz="1400" dirty="0" err="1" smtClean="0">
                <a:solidFill>
                  <a:schemeClr val="accent1"/>
                </a:solidFill>
              </a:rPr>
              <a:t>expects</a:t>
            </a:r>
            <a:r>
              <a:rPr lang="pt-PT" sz="1400" dirty="0" smtClean="0">
                <a:solidFill>
                  <a:schemeClr val="accent1"/>
                </a:solidFill>
              </a:rPr>
              <a:t> (</a:t>
            </a:r>
            <a:r>
              <a:rPr lang="pt-PT" sz="1400" dirty="0" err="1" smtClean="0">
                <a:solidFill>
                  <a:schemeClr val="accent1"/>
                </a:solidFill>
              </a:rPr>
              <a:t>full</a:t>
            </a:r>
            <a:r>
              <a:rPr lang="pt-PT" sz="1400" dirty="0" smtClean="0">
                <a:solidFill>
                  <a:schemeClr val="accent1"/>
                </a:solidFill>
              </a:rPr>
              <a:t>-ring </a:t>
            </a:r>
            <a:r>
              <a:rPr lang="pt-PT" sz="1400" dirty="0" err="1" smtClean="0">
                <a:solidFill>
                  <a:schemeClr val="accent1"/>
                </a:solidFill>
              </a:rPr>
              <a:t>geometry</a:t>
            </a:r>
            <a:r>
              <a:rPr lang="pt-PT" sz="1400" dirty="0" smtClean="0">
                <a:solidFill>
                  <a:schemeClr val="accent1"/>
                </a:solidFill>
              </a:rPr>
              <a:t>)</a:t>
            </a:r>
            <a:endParaRPr lang="pt-PT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772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Method</a:t>
            </a:r>
            <a:endParaRPr lang="pt-PT" dirty="0"/>
          </a:p>
        </p:txBody>
      </p:sp>
      <p:sp>
        <p:nvSpPr>
          <p:cNvPr id="5" name="Marcador de Posição de Conteúdo 4"/>
          <p:cNvSpPr>
            <a:spLocks noGrp="1"/>
          </p:cNvSpPr>
          <p:nvPr>
            <p:ph idx="1"/>
          </p:nvPr>
        </p:nvSpPr>
        <p:spPr>
          <a:xfrm>
            <a:off x="838200" y="1825625"/>
            <a:ext cx="5659473" cy="4351338"/>
          </a:xfrm>
        </p:spPr>
        <p:txBody>
          <a:bodyPr>
            <a:normAutofit/>
          </a:bodyPr>
          <a:lstStyle/>
          <a:p>
            <a:r>
              <a:rPr lang="pt-PT" dirty="0" smtClean="0"/>
              <a:t>Data </a:t>
            </a:r>
            <a:r>
              <a:rPr lang="pt-PT" dirty="0" err="1" smtClean="0"/>
              <a:t>was</a:t>
            </a:r>
            <a:r>
              <a:rPr lang="pt-PT" dirty="0" smtClean="0"/>
              <a:t> </a:t>
            </a:r>
            <a:r>
              <a:rPr lang="pt-PT" dirty="0" err="1" smtClean="0"/>
              <a:t>reconstructed</a:t>
            </a:r>
            <a:r>
              <a:rPr lang="pt-PT" dirty="0" smtClean="0"/>
              <a:t> </a:t>
            </a:r>
            <a:r>
              <a:rPr lang="pt-PT" dirty="0" err="1" smtClean="0"/>
              <a:t>with</a:t>
            </a:r>
            <a:r>
              <a:rPr lang="pt-PT" dirty="0" smtClean="0"/>
              <a:t> FBP</a:t>
            </a:r>
            <a:br>
              <a:rPr lang="pt-PT" dirty="0" smtClean="0"/>
            </a:br>
            <a:r>
              <a:rPr lang="pt-PT" dirty="0" smtClean="0"/>
              <a:t>(no </a:t>
            </a:r>
            <a:r>
              <a:rPr lang="pt-PT" dirty="0" err="1" smtClean="0"/>
              <a:t>apodization</a:t>
            </a:r>
            <a:r>
              <a:rPr lang="pt-PT" dirty="0" smtClean="0"/>
              <a:t> </a:t>
            </a:r>
            <a:r>
              <a:rPr lang="pt-PT" dirty="0" err="1" smtClean="0"/>
              <a:t>or</a:t>
            </a:r>
            <a:r>
              <a:rPr lang="pt-PT" dirty="0" smtClean="0"/>
              <a:t> </a:t>
            </a:r>
            <a:r>
              <a:rPr lang="pt-PT" dirty="0" err="1" smtClean="0"/>
              <a:t>smoothing</a:t>
            </a:r>
            <a:r>
              <a:rPr lang="pt-PT" dirty="0" smtClean="0"/>
              <a:t>)</a:t>
            </a:r>
          </a:p>
          <a:p>
            <a:pPr lvl="1"/>
            <a:r>
              <a:rPr lang="pt-PT" dirty="0" err="1">
                <a:solidFill>
                  <a:schemeClr val="bg1">
                    <a:lumMod val="65000"/>
                  </a:schemeClr>
                </a:solidFill>
              </a:rPr>
              <a:t>l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istmode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data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was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binned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into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non-oblique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sinograms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(no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rebinning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was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used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).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These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sinograms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were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added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resulting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in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one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non-oblique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sinogram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pt-PT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pt-PT" dirty="0" err="1" smtClean="0"/>
              <a:t>The</a:t>
            </a:r>
            <a:r>
              <a:rPr lang="pt-PT" dirty="0" smtClean="0"/>
              <a:t> </a:t>
            </a:r>
            <a:r>
              <a:rPr lang="pt-PT" b="1" dirty="0" smtClean="0">
                <a:solidFill>
                  <a:schemeClr val="accent2"/>
                </a:solidFill>
              </a:rPr>
              <a:t>Y </a:t>
            </a:r>
            <a:r>
              <a:rPr lang="pt-PT" b="1" dirty="0" err="1" smtClean="0">
                <a:solidFill>
                  <a:schemeClr val="accent2"/>
                </a:solidFill>
              </a:rPr>
              <a:t>profiles</a:t>
            </a:r>
            <a:r>
              <a:rPr lang="pt-PT" b="1" dirty="0" smtClean="0">
                <a:solidFill>
                  <a:schemeClr val="accent2"/>
                </a:solidFill>
              </a:rPr>
              <a:t> </a:t>
            </a:r>
            <a:r>
              <a:rPr lang="pt-PT" dirty="0" err="1" smtClean="0"/>
              <a:t>across</a:t>
            </a:r>
            <a:r>
              <a:rPr lang="pt-PT" dirty="0" smtClean="0"/>
              <a:t> </a:t>
            </a:r>
            <a:r>
              <a:rPr lang="pt-PT" dirty="0" err="1" smtClean="0"/>
              <a:t>the</a:t>
            </a:r>
            <a:r>
              <a:rPr lang="pt-PT" dirty="0" smtClean="0"/>
              <a:t> </a:t>
            </a:r>
            <a:r>
              <a:rPr lang="pt-PT" dirty="0" err="1" smtClean="0"/>
              <a:t>peak</a:t>
            </a:r>
            <a:r>
              <a:rPr lang="pt-PT" dirty="0" smtClean="0"/>
              <a:t> </a:t>
            </a:r>
            <a:r>
              <a:rPr lang="pt-PT" dirty="0" err="1" smtClean="0"/>
              <a:t>have</a:t>
            </a:r>
            <a:r>
              <a:rPr lang="pt-PT" dirty="0" smtClean="0"/>
              <a:t> negative </a:t>
            </a:r>
            <a:r>
              <a:rPr lang="pt-PT" dirty="0" err="1" smtClean="0"/>
              <a:t>values</a:t>
            </a:r>
            <a:endParaRPr lang="pt-PT" dirty="0" smtClean="0"/>
          </a:p>
          <a:p>
            <a:pPr lvl="1"/>
            <a:r>
              <a:rPr lang="pt-PT" dirty="0" err="1">
                <a:solidFill>
                  <a:schemeClr val="bg1">
                    <a:lumMod val="65000"/>
                  </a:schemeClr>
                </a:solidFill>
              </a:rPr>
              <a:t>t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hey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are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due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to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the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incomplete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ring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geometry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(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the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FBP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algorithm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expects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data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from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a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full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ring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geometry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"/>
          <a:srcRect l="4408" t="14989" r="9428" b="11812"/>
          <a:stretch/>
        </p:blipFill>
        <p:spPr>
          <a:xfrm>
            <a:off x="6614809" y="1729885"/>
            <a:ext cx="5175276" cy="454281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785" y="295520"/>
            <a:ext cx="7353300" cy="9620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CaixaDeTexto 7"/>
          <p:cNvSpPr txBox="1"/>
          <p:nvPr/>
        </p:nvSpPr>
        <p:spPr>
          <a:xfrm>
            <a:off x="7678856" y="6311899"/>
            <a:ext cx="3047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 err="1" smtClean="0"/>
              <a:t>Example</a:t>
            </a:r>
            <a:r>
              <a:rPr lang="pt-PT" dirty="0" smtClean="0"/>
              <a:t> </a:t>
            </a:r>
            <a:r>
              <a:rPr lang="pt-PT" dirty="0" err="1" smtClean="0"/>
              <a:t>of</a:t>
            </a:r>
            <a:r>
              <a:rPr lang="pt-PT" dirty="0" smtClean="0"/>
              <a:t> FBP </a:t>
            </a:r>
            <a:r>
              <a:rPr lang="pt-PT" dirty="0" err="1" smtClean="0"/>
              <a:t>reconstruction</a:t>
            </a:r>
            <a:endParaRPr lang="pt-PT" dirty="0"/>
          </a:p>
        </p:txBody>
      </p:sp>
      <p:sp>
        <p:nvSpPr>
          <p:cNvPr id="9" name="CaixaDeTexto 8"/>
          <p:cNvSpPr txBox="1"/>
          <p:nvPr/>
        </p:nvSpPr>
        <p:spPr>
          <a:xfrm>
            <a:off x="7082303" y="3560323"/>
            <a:ext cx="10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err="1" smtClean="0">
                <a:solidFill>
                  <a:schemeClr val="bg1"/>
                </a:solidFill>
              </a:rPr>
              <a:t>Detector</a:t>
            </a:r>
            <a:r>
              <a:rPr lang="pt-PT" dirty="0" smtClean="0">
                <a:solidFill>
                  <a:schemeClr val="bg1"/>
                </a:solidFill>
              </a:rPr>
              <a:t> </a:t>
            </a:r>
            <a:r>
              <a:rPr lang="pt-PT" dirty="0" err="1" smtClean="0">
                <a:solidFill>
                  <a:schemeClr val="bg1"/>
                </a:solidFill>
              </a:rPr>
              <a:t>head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0876089" y="3560323"/>
            <a:ext cx="1031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err="1" smtClean="0">
                <a:solidFill>
                  <a:schemeClr val="bg1"/>
                </a:solidFill>
              </a:rPr>
              <a:t>Detector</a:t>
            </a:r>
            <a:r>
              <a:rPr lang="pt-PT" dirty="0" smtClean="0">
                <a:solidFill>
                  <a:schemeClr val="bg1"/>
                </a:solidFill>
              </a:rPr>
              <a:t> </a:t>
            </a:r>
            <a:r>
              <a:rPr lang="pt-PT" dirty="0" err="1" smtClean="0">
                <a:solidFill>
                  <a:schemeClr val="bg1"/>
                </a:solidFill>
              </a:rPr>
              <a:t>head</a:t>
            </a:r>
            <a:endParaRPr lang="pt-P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561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Regarding</a:t>
            </a:r>
            <a:r>
              <a:rPr lang="pt-PT" dirty="0" smtClean="0"/>
              <a:t> </a:t>
            </a:r>
            <a:r>
              <a:rPr lang="pt-PT" dirty="0" err="1" smtClean="0"/>
              <a:t>the</a:t>
            </a:r>
            <a:r>
              <a:rPr lang="pt-PT" dirty="0" smtClean="0"/>
              <a:t> </a:t>
            </a:r>
            <a:r>
              <a:rPr lang="pt-PT" dirty="0" err="1" smtClean="0"/>
              <a:t>sinograms</a:t>
            </a:r>
            <a:r>
              <a:rPr lang="pt-PT" dirty="0" smtClean="0"/>
              <a:t>: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5163766" cy="4351338"/>
          </a:xfrm>
        </p:spPr>
        <p:txBody>
          <a:bodyPr/>
          <a:lstStyle/>
          <a:p>
            <a:r>
              <a:rPr lang="pt-PT" dirty="0" err="1" smtClean="0"/>
              <a:t>Due</a:t>
            </a:r>
            <a:r>
              <a:rPr lang="pt-PT" dirty="0" smtClean="0"/>
              <a:t> to </a:t>
            </a:r>
            <a:r>
              <a:rPr lang="pt-PT" dirty="0" err="1" smtClean="0"/>
              <a:t>the</a:t>
            </a:r>
            <a:r>
              <a:rPr lang="pt-PT" dirty="0" smtClean="0"/>
              <a:t> </a:t>
            </a:r>
            <a:r>
              <a:rPr lang="pt-PT" dirty="0" err="1" smtClean="0"/>
              <a:t>limited-angle</a:t>
            </a:r>
            <a:r>
              <a:rPr lang="pt-PT" dirty="0" smtClean="0"/>
              <a:t> </a:t>
            </a:r>
            <a:r>
              <a:rPr lang="pt-PT" dirty="0" err="1" smtClean="0"/>
              <a:t>geometry</a:t>
            </a:r>
            <a:r>
              <a:rPr lang="pt-PT" dirty="0" smtClean="0"/>
              <a:t>, </a:t>
            </a:r>
            <a:r>
              <a:rPr lang="pt-PT" dirty="0" err="1" smtClean="0"/>
              <a:t>they</a:t>
            </a:r>
            <a:r>
              <a:rPr lang="pt-PT" dirty="0" smtClean="0"/>
              <a:t> are </a:t>
            </a:r>
            <a:r>
              <a:rPr lang="pt-PT" dirty="0" err="1" smtClean="0"/>
              <a:t>incomplete</a:t>
            </a:r>
            <a:r>
              <a:rPr lang="pt-PT" dirty="0" smtClean="0"/>
              <a:t>, i.e. </a:t>
            </a:r>
            <a:r>
              <a:rPr lang="pt-PT" dirty="0" err="1" smtClean="0"/>
              <a:t>not</a:t>
            </a:r>
            <a:r>
              <a:rPr lang="pt-PT" dirty="0" smtClean="0"/>
              <a:t> </a:t>
            </a:r>
            <a:r>
              <a:rPr lang="pt-PT" dirty="0" err="1" smtClean="0"/>
              <a:t>all</a:t>
            </a:r>
            <a:r>
              <a:rPr lang="pt-PT" dirty="0" smtClean="0"/>
              <a:t> angular </a:t>
            </a:r>
            <a:r>
              <a:rPr lang="pt-PT" dirty="0" err="1" smtClean="0"/>
              <a:t>positions</a:t>
            </a:r>
            <a:r>
              <a:rPr lang="pt-PT" dirty="0" smtClean="0"/>
              <a:t> </a:t>
            </a:r>
            <a:r>
              <a:rPr lang="pt-PT" dirty="0" err="1" smtClean="0"/>
              <a:t>have</a:t>
            </a:r>
            <a:r>
              <a:rPr lang="pt-PT" dirty="0" smtClean="0"/>
              <a:t> data. </a:t>
            </a:r>
            <a:r>
              <a:rPr lang="pt-PT" dirty="0" err="1" smtClean="0"/>
              <a:t>Example</a:t>
            </a:r>
            <a:r>
              <a:rPr lang="pt-PT" dirty="0" smtClean="0"/>
              <a:t>:</a:t>
            </a:r>
            <a:endParaRPr lang="pt-PT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088" y="1476982"/>
            <a:ext cx="5215647" cy="5215647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838200" y="4001294"/>
            <a:ext cx="5408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(a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line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source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perpendicular to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the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image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plane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would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generate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a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sinosoidal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line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in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the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sinogram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but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due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to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the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TPPT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limited-angle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geometry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we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only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see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part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of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it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.)</a:t>
            </a:r>
            <a:endParaRPr lang="pt-PT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53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Regarding</a:t>
            </a:r>
            <a:r>
              <a:rPr lang="pt-PT" dirty="0" smtClean="0"/>
              <a:t> </a:t>
            </a:r>
            <a:r>
              <a:rPr lang="pt-PT" dirty="0" err="1" smtClean="0"/>
              <a:t>the</a:t>
            </a:r>
            <a:r>
              <a:rPr lang="pt-PT" dirty="0" smtClean="0"/>
              <a:t> FBP </a:t>
            </a:r>
            <a:r>
              <a:rPr lang="pt-PT" dirty="0" err="1" smtClean="0"/>
              <a:t>algorithm</a:t>
            </a:r>
            <a:r>
              <a:rPr lang="pt-PT" dirty="0" smtClean="0"/>
              <a:t>: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838199" y="1825625"/>
            <a:ext cx="10796081" cy="4351338"/>
          </a:xfrm>
        </p:spPr>
        <p:txBody>
          <a:bodyPr/>
          <a:lstStyle/>
          <a:p>
            <a:r>
              <a:rPr lang="pt-PT" dirty="0" smtClean="0"/>
              <a:t>No zero-</a:t>
            </a:r>
            <a:r>
              <a:rPr lang="pt-PT" dirty="0" err="1" smtClean="0"/>
              <a:t>padding</a:t>
            </a:r>
            <a:r>
              <a:rPr lang="pt-PT" dirty="0" smtClean="0"/>
              <a:t> </a:t>
            </a:r>
            <a:r>
              <a:rPr lang="pt-PT" dirty="0" err="1" smtClean="0"/>
              <a:t>was</a:t>
            </a:r>
            <a:r>
              <a:rPr lang="pt-PT" dirty="0" smtClean="0"/>
              <a:t> </a:t>
            </a:r>
            <a:r>
              <a:rPr lang="pt-PT" dirty="0" err="1" smtClean="0"/>
              <a:t>applied</a:t>
            </a:r>
            <a:r>
              <a:rPr lang="pt-PT" dirty="0" smtClean="0"/>
              <a:t>, to </a:t>
            </a:r>
            <a:r>
              <a:rPr lang="pt-PT" dirty="0" err="1" smtClean="0"/>
              <a:t>conform</a:t>
            </a:r>
            <a:r>
              <a:rPr lang="pt-PT" dirty="0" smtClean="0"/>
              <a:t> to </a:t>
            </a:r>
            <a:r>
              <a:rPr lang="pt-PT" dirty="0" err="1" smtClean="0"/>
              <a:t>the</a:t>
            </a:r>
            <a:r>
              <a:rPr lang="pt-PT" dirty="0" smtClean="0"/>
              <a:t> NEMA standard.</a:t>
            </a:r>
          </a:p>
          <a:p>
            <a:pPr lvl="1"/>
            <a:r>
              <a:rPr lang="pt-PT" dirty="0">
                <a:solidFill>
                  <a:schemeClr val="bg1">
                    <a:lumMod val="65000"/>
                  </a:schemeClr>
                </a:solidFill>
              </a:rPr>
              <a:t>i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n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yesterdays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’ slides, zero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padding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was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being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applied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in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my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FBP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implementation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.   </a:t>
            </a:r>
            <a:endParaRPr lang="pt-PT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228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 err="1" smtClean="0"/>
              <a:t>Results</a:t>
            </a:r>
            <a:endParaRPr lang="pt-PT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389106" y="3602038"/>
            <a:ext cx="11313267" cy="1655762"/>
          </a:xfrm>
        </p:spPr>
        <p:txBody>
          <a:bodyPr>
            <a:normAutofit/>
          </a:bodyPr>
          <a:lstStyle/>
          <a:p>
            <a:r>
              <a:rPr lang="pt-PT" dirty="0" err="1" smtClean="0"/>
              <a:t>Summary</a:t>
            </a:r>
            <a:r>
              <a:rPr lang="pt-PT" dirty="0" smtClean="0"/>
              <a:t> </a:t>
            </a:r>
            <a:r>
              <a:rPr lang="pt-PT" dirty="0" err="1" smtClean="0"/>
              <a:t>of</a:t>
            </a:r>
            <a:r>
              <a:rPr lang="pt-PT" dirty="0" smtClean="0"/>
              <a:t> </a:t>
            </a:r>
            <a:r>
              <a:rPr lang="pt-PT" dirty="0" err="1" smtClean="0"/>
              <a:t>the</a:t>
            </a:r>
            <a:r>
              <a:rPr lang="pt-PT" dirty="0" smtClean="0"/>
              <a:t> FWHM </a:t>
            </a:r>
            <a:r>
              <a:rPr lang="pt-PT" dirty="0" err="1" smtClean="0"/>
              <a:t>and</a:t>
            </a:r>
            <a:r>
              <a:rPr lang="pt-PT" dirty="0" smtClean="0"/>
              <a:t> FWTM </a:t>
            </a:r>
            <a:r>
              <a:rPr lang="pt-PT" dirty="0" err="1" smtClean="0"/>
              <a:t>obtained</a:t>
            </a:r>
            <a:r>
              <a:rPr lang="pt-PT" dirty="0" smtClean="0"/>
              <a:t> </a:t>
            </a:r>
            <a:r>
              <a:rPr lang="pt-PT" dirty="0" err="1" smtClean="0"/>
              <a:t>with</a:t>
            </a:r>
            <a:r>
              <a:rPr lang="pt-PT" dirty="0" smtClean="0"/>
              <a:t> </a:t>
            </a:r>
            <a:r>
              <a:rPr lang="pt-PT" dirty="0" err="1" smtClean="0"/>
              <a:t>different</a:t>
            </a:r>
            <a:r>
              <a:rPr lang="pt-PT" dirty="0" smtClean="0"/>
              <a:t> </a:t>
            </a:r>
            <a:r>
              <a:rPr lang="pt-PT" dirty="0" err="1" smtClean="0"/>
              <a:t>image</a:t>
            </a:r>
            <a:r>
              <a:rPr lang="pt-PT" dirty="0" smtClean="0"/>
              <a:t> </a:t>
            </a:r>
            <a:r>
              <a:rPr lang="pt-PT" dirty="0" err="1" smtClean="0"/>
              <a:t>sizes</a:t>
            </a:r>
            <a:r>
              <a:rPr lang="pt-PT" dirty="0" smtClean="0"/>
              <a:t/>
            </a:r>
            <a:br>
              <a:rPr lang="pt-PT" dirty="0" smtClean="0"/>
            </a:b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(FBP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images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were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reconstructed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with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: 200x200, 300x300, 400x400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and</a:t>
            </a:r>
            <a:r>
              <a:rPr lang="pt-PT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500x500 pixels) </a:t>
            </a:r>
            <a:r>
              <a:rPr lang="pt-PT" dirty="0">
                <a:solidFill>
                  <a:schemeClr val="bg1">
                    <a:lumMod val="65000"/>
                  </a:schemeClr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06815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Summary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838199" y="1825625"/>
            <a:ext cx="10903085" cy="4351338"/>
          </a:xfrm>
        </p:spPr>
        <p:txBody>
          <a:bodyPr/>
          <a:lstStyle/>
          <a:p>
            <a:r>
              <a:rPr lang="pt-PT" dirty="0" err="1" smtClean="0">
                <a:solidFill>
                  <a:schemeClr val="bg1">
                    <a:lumMod val="75000"/>
                  </a:schemeClr>
                </a:solidFill>
              </a:rPr>
              <a:t>All</a:t>
            </a:r>
            <a:r>
              <a:rPr lang="pt-PT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75000"/>
                  </a:schemeClr>
                </a:solidFill>
              </a:rPr>
              <a:t>the</a:t>
            </a:r>
            <a:r>
              <a:rPr lang="pt-PT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75000"/>
                  </a:schemeClr>
                </a:solidFill>
              </a:rPr>
              <a:t>best</a:t>
            </a:r>
            <a:r>
              <a:rPr lang="pt-PT" dirty="0" smtClean="0">
                <a:solidFill>
                  <a:schemeClr val="bg1">
                    <a:lumMod val="75000"/>
                  </a:schemeClr>
                </a:solidFill>
              </a:rPr>
              <a:t> FWHM </a:t>
            </a:r>
            <a:r>
              <a:rPr lang="pt-PT" dirty="0" err="1" smtClean="0">
                <a:solidFill>
                  <a:schemeClr val="bg1">
                    <a:lumMod val="75000"/>
                  </a:schemeClr>
                </a:solidFill>
              </a:rPr>
              <a:t>and</a:t>
            </a:r>
            <a:r>
              <a:rPr lang="pt-PT" dirty="0" smtClean="0">
                <a:solidFill>
                  <a:schemeClr val="bg1">
                    <a:lumMod val="75000"/>
                  </a:schemeClr>
                </a:solidFill>
              </a:rPr>
              <a:t> FWTH </a:t>
            </a:r>
            <a:r>
              <a:rPr lang="pt-PT" dirty="0" err="1" smtClean="0">
                <a:solidFill>
                  <a:schemeClr val="bg1">
                    <a:lumMod val="75000"/>
                  </a:schemeClr>
                </a:solidFill>
              </a:rPr>
              <a:t>were</a:t>
            </a:r>
            <a:r>
              <a:rPr lang="pt-PT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75000"/>
                  </a:schemeClr>
                </a:solidFill>
              </a:rPr>
              <a:t>obtained</a:t>
            </a:r>
            <a:r>
              <a:rPr lang="pt-PT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75000"/>
                  </a:schemeClr>
                </a:solidFill>
              </a:rPr>
              <a:t>with</a:t>
            </a:r>
            <a:r>
              <a:rPr lang="pt-PT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75000"/>
                  </a:schemeClr>
                </a:solidFill>
              </a:rPr>
              <a:t>the</a:t>
            </a:r>
            <a:r>
              <a:rPr lang="pt-PT" dirty="0" smtClean="0">
                <a:solidFill>
                  <a:schemeClr val="bg1">
                    <a:lumMod val="75000"/>
                  </a:schemeClr>
                </a:solidFill>
              </a:rPr>
              <a:t> 500x500 </a:t>
            </a:r>
            <a:r>
              <a:rPr lang="pt-PT" dirty="0" err="1" smtClean="0">
                <a:solidFill>
                  <a:schemeClr val="bg1">
                    <a:lumMod val="75000"/>
                  </a:schemeClr>
                </a:solidFill>
              </a:rPr>
              <a:t>images</a:t>
            </a:r>
            <a:r>
              <a:rPr lang="pt-PT" dirty="0" smtClean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  <a:p>
            <a:pPr lvl="1"/>
            <a:r>
              <a:rPr lang="pt-PT" dirty="0" err="1" smtClean="0"/>
              <a:t>Best</a:t>
            </a:r>
            <a:r>
              <a:rPr lang="pt-PT" dirty="0" smtClean="0"/>
              <a:t> </a:t>
            </a:r>
            <a:r>
              <a:rPr lang="pt-PT" dirty="0" err="1" smtClean="0"/>
              <a:t>FWHM_y</a:t>
            </a:r>
            <a:r>
              <a:rPr lang="pt-PT" dirty="0" smtClean="0"/>
              <a:t>: </a:t>
            </a:r>
            <a:r>
              <a:rPr lang="pt-PT" b="1" dirty="0" smtClean="0">
                <a:solidFill>
                  <a:schemeClr val="accent6"/>
                </a:solidFill>
              </a:rPr>
              <a:t>0.71 mm</a:t>
            </a:r>
          </a:p>
          <a:p>
            <a:pPr lvl="1"/>
            <a:r>
              <a:rPr lang="pt-PT" dirty="0" err="1"/>
              <a:t>Best</a:t>
            </a:r>
            <a:r>
              <a:rPr lang="pt-PT" dirty="0"/>
              <a:t> </a:t>
            </a:r>
            <a:r>
              <a:rPr lang="pt-PT" dirty="0" err="1" smtClean="0"/>
              <a:t>FWHM_x</a:t>
            </a:r>
            <a:r>
              <a:rPr lang="pt-PT" dirty="0" smtClean="0"/>
              <a:t>: </a:t>
            </a:r>
            <a:r>
              <a:rPr lang="pt-PT" b="1" dirty="0" smtClean="0">
                <a:solidFill>
                  <a:schemeClr val="accent6"/>
                </a:solidFill>
              </a:rPr>
              <a:t>1.61 </a:t>
            </a:r>
            <a:r>
              <a:rPr lang="pt-PT" b="1" dirty="0">
                <a:solidFill>
                  <a:schemeClr val="accent6"/>
                </a:solidFill>
              </a:rPr>
              <a:t>mm</a:t>
            </a:r>
          </a:p>
        </p:txBody>
      </p:sp>
    </p:spTree>
    <p:extLst>
      <p:ext uri="{BB962C8B-B14F-4D97-AF65-F5344CB8AC3E}">
        <p14:creationId xmlns:p14="http://schemas.microsoft.com/office/powerpoint/2010/main" val="2524524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3115"/>
            <a:ext cx="12182842" cy="6254885"/>
          </a:xfrm>
          <a:prstGeom prst="rect">
            <a:avLst/>
          </a:prstGeom>
        </p:spPr>
      </p:pic>
      <p:cxnSp>
        <p:nvCxnSpPr>
          <p:cNvPr id="7" name="Conexão reta unidirecional 6"/>
          <p:cNvCxnSpPr/>
          <p:nvPr/>
        </p:nvCxnSpPr>
        <p:spPr>
          <a:xfrm flipH="1">
            <a:off x="1371600" y="321013"/>
            <a:ext cx="175098" cy="282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1459149" y="67097"/>
            <a:ext cx="27510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50" dirty="0" err="1" smtClean="0">
                <a:solidFill>
                  <a:schemeClr val="accent5"/>
                </a:solidFill>
              </a:rPr>
              <a:t>Number</a:t>
            </a:r>
            <a:r>
              <a:rPr lang="pt-PT" sz="1050" dirty="0" smtClean="0">
                <a:solidFill>
                  <a:schemeClr val="accent5"/>
                </a:solidFill>
              </a:rPr>
              <a:t> </a:t>
            </a:r>
            <a:r>
              <a:rPr lang="pt-PT" sz="1050" dirty="0" err="1" smtClean="0">
                <a:solidFill>
                  <a:schemeClr val="accent5"/>
                </a:solidFill>
              </a:rPr>
              <a:t>of</a:t>
            </a:r>
            <a:r>
              <a:rPr lang="pt-PT" sz="1050" dirty="0" smtClean="0">
                <a:solidFill>
                  <a:schemeClr val="accent5"/>
                </a:solidFill>
              </a:rPr>
              <a:t> pixels in </a:t>
            </a:r>
            <a:r>
              <a:rPr lang="pt-PT" sz="1050" dirty="0" err="1" smtClean="0">
                <a:solidFill>
                  <a:schemeClr val="accent5"/>
                </a:solidFill>
              </a:rPr>
              <a:t>reconstructed</a:t>
            </a:r>
            <a:r>
              <a:rPr lang="pt-PT" sz="1050" dirty="0" smtClean="0">
                <a:solidFill>
                  <a:schemeClr val="accent5"/>
                </a:solidFill>
              </a:rPr>
              <a:t> </a:t>
            </a:r>
            <a:r>
              <a:rPr lang="pt-PT" sz="1050" dirty="0" err="1" smtClean="0">
                <a:solidFill>
                  <a:schemeClr val="accent5"/>
                </a:solidFill>
              </a:rPr>
              <a:t>image</a:t>
            </a:r>
            <a:r>
              <a:rPr lang="pt-PT" sz="1050" dirty="0" smtClean="0">
                <a:solidFill>
                  <a:schemeClr val="accent5"/>
                </a:solidFill>
              </a:rPr>
              <a:t> (</a:t>
            </a:r>
            <a:r>
              <a:rPr lang="pt-PT" sz="1050" dirty="0" err="1">
                <a:solidFill>
                  <a:schemeClr val="accent5"/>
                </a:solidFill>
              </a:rPr>
              <a:t>N</a:t>
            </a:r>
            <a:r>
              <a:rPr lang="pt-PT" sz="1050" dirty="0" err="1" smtClean="0">
                <a:solidFill>
                  <a:schemeClr val="accent5"/>
                </a:solidFill>
              </a:rPr>
              <a:t>xN</a:t>
            </a:r>
            <a:r>
              <a:rPr lang="pt-PT" sz="1050" dirty="0" smtClean="0">
                <a:solidFill>
                  <a:schemeClr val="accent5"/>
                </a:solidFill>
              </a:rPr>
              <a:t>)</a:t>
            </a:r>
          </a:p>
        </p:txBody>
      </p:sp>
      <p:sp>
        <p:nvSpPr>
          <p:cNvPr id="9" name="Oval 8"/>
          <p:cNvSpPr/>
          <p:nvPr/>
        </p:nvSpPr>
        <p:spPr>
          <a:xfrm>
            <a:off x="6352161" y="6011694"/>
            <a:ext cx="749030" cy="466927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Oval 9"/>
          <p:cNvSpPr/>
          <p:nvPr/>
        </p:nvSpPr>
        <p:spPr>
          <a:xfrm>
            <a:off x="4581727" y="6546716"/>
            <a:ext cx="749030" cy="466927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2" name="Conexão reta unidirecional 11"/>
          <p:cNvCxnSpPr/>
          <p:nvPr/>
        </p:nvCxnSpPr>
        <p:spPr>
          <a:xfrm flipH="1">
            <a:off x="9941668" y="5165387"/>
            <a:ext cx="107004" cy="301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9941668" y="4888388"/>
            <a:ext cx="17688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 err="1">
                <a:solidFill>
                  <a:schemeClr val="accent1"/>
                </a:solidFill>
              </a:rPr>
              <a:t>d</a:t>
            </a:r>
            <a:r>
              <a:rPr lang="pt-PT" sz="1200" dirty="0" err="1" smtClean="0">
                <a:solidFill>
                  <a:schemeClr val="accent1"/>
                </a:solidFill>
              </a:rPr>
              <a:t>ue</a:t>
            </a:r>
            <a:r>
              <a:rPr lang="pt-PT" sz="1200" dirty="0" smtClean="0">
                <a:solidFill>
                  <a:schemeClr val="accent1"/>
                </a:solidFill>
              </a:rPr>
              <a:t> to noise in </a:t>
            </a:r>
            <a:r>
              <a:rPr lang="pt-PT" sz="1200" dirty="0" err="1" smtClean="0">
                <a:solidFill>
                  <a:schemeClr val="accent1"/>
                </a:solidFill>
              </a:rPr>
              <a:t>the</a:t>
            </a:r>
            <a:r>
              <a:rPr lang="pt-PT" sz="1200" dirty="0" smtClean="0">
                <a:solidFill>
                  <a:schemeClr val="accent1"/>
                </a:solidFill>
              </a:rPr>
              <a:t> </a:t>
            </a:r>
            <a:r>
              <a:rPr lang="pt-PT" sz="1200" dirty="0" err="1" smtClean="0">
                <a:solidFill>
                  <a:schemeClr val="accent1"/>
                </a:solidFill>
              </a:rPr>
              <a:t>image</a:t>
            </a:r>
            <a:endParaRPr lang="pt-PT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191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 err="1" smtClean="0"/>
              <a:t>Results</a:t>
            </a:r>
            <a:endParaRPr lang="pt-PT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b="1" dirty="0">
                <a:solidFill>
                  <a:schemeClr val="accent5"/>
                </a:solidFill>
              </a:rPr>
              <a:t>200x200</a:t>
            </a:r>
            <a:r>
              <a:rPr lang="pt-PT" dirty="0"/>
              <a:t> pixels </a:t>
            </a:r>
            <a:r>
              <a:rPr lang="pt-PT" dirty="0" smtClean="0"/>
              <a:t>FBP </a:t>
            </a:r>
            <a:r>
              <a:rPr lang="pt-PT" dirty="0" err="1" smtClean="0"/>
              <a:t>reconstructed</a:t>
            </a:r>
            <a:r>
              <a:rPr lang="pt-PT" dirty="0" smtClean="0"/>
              <a:t> </a:t>
            </a:r>
            <a:r>
              <a:rPr lang="pt-PT" dirty="0" err="1" smtClean="0"/>
              <a:t>images</a:t>
            </a:r>
            <a:endParaRPr lang="pt-PT" dirty="0" smtClean="0"/>
          </a:p>
          <a:p>
            <a:r>
              <a:rPr lang="pt-PT" dirty="0" smtClean="0"/>
              <a:t>X </a:t>
            </a:r>
            <a:r>
              <a:rPr lang="pt-PT" dirty="0" err="1" smtClean="0"/>
              <a:t>and</a:t>
            </a:r>
            <a:r>
              <a:rPr lang="pt-PT" dirty="0" smtClean="0"/>
              <a:t> Y FWHM </a:t>
            </a:r>
            <a:r>
              <a:rPr lang="pt-PT" dirty="0" err="1" smtClean="0"/>
              <a:t>and</a:t>
            </a:r>
            <a:r>
              <a:rPr lang="pt-PT" dirty="0" smtClean="0"/>
              <a:t> FWTM</a:t>
            </a:r>
          </a:p>
          <a:p>
            <a:r>
              <a:rPr lang="pt-PT" b="1" dirty="0" err="1" smtClean="0">
                <a:solidFill>
                  <a:srgbClr val="FF0000"/>
                </a:solidFill>
              </a:rPr>
              <a:t>Worse</a:t>
            </a:r>
            <a:r>
              <a:rPr lang="pt-PT" dirty="0" smtClean="0"/>
              <a:t> </a:t>
            </a:r>
            <a:r>
              <a:rPr lang="pt-PT" dirty="0" err="1" smtClean="0"/>
              <a:t>spatial</a:t>
            </a:r>
            <a:r>
              <a:rPr lang="pt-PT" dirty="0" smtClean="0"/>
              <a:t> </a:t>
            </a:r>
            <a:r>
              <a:rPr lang="pt-PT" dirty="0" err="1" smtClean="0"/>
              <a:t>resolutions</a:t>
            </a:r>
            <a:r>
              <a:rPr lang="pt-PT" dirty="0" smtClean="0"/>
              <a:t> are </a:t>
            </a:r>
            <a:r>
              <a:rPr lang="pt-PT" dirty="0" err="1" smtClean="0"/>
              <a:t>expected</a:t>
            </a:r>
            <a:r>
              <a:rPr lang="pt-PT" dirty="0" smtClean="0"/>
              <a:t>, </a:t>
            </a:r>
            <a:r>
              <a:rPr lang="pt-PT" dirty="0" err="1" smtClean="0"/>
              <a:t>but</a:t>
            </a:r>
            <a:r>
              <a:rPr lang="pt-PT" dirty="0" smtClean="0"/>
              <a:t> </a:t>
            </a:r>
            <a:r>
              <a:rPr lang="pt-PT" dirty="0" err="1" smtClean="0"/>
              <a:t>less</a:t>
            </a:r>
            <a:r>
              <a:rPr lang="pt-PT" dirty="0" smtClean="0"/>
              <a:t> </a:t>
            </a:r>
            <a:r>
              <a:rPr lang="pt-PT" dirty="0" err="1" smtClean="0"/>
              <a:t>image</a:t>
            </a:r>
            <a:r>
              <a:rPr lang="pt-PT" dirty="0" smtClean="0"/>
              <a:t> noise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881383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468026" y="127586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824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682034" y="127585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07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905771" y="127586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10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442763" y="365191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  <p:pic>
        <p:nvPicPr>
          <p:cNvPr id="18" name="Imagem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0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672307" y="361049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597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905771" y="365191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9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448571" y="584785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19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672307" y="594513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956" y="1028700"/>
            <a:ext cx="5829300" cy="582930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905771" y="584785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3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 err="1" smtClean="0"/>
              <a:t>Results</a:t>
            </a:r>
            <a:endParaRPr lang="pt-PT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b="1" dirty="0" smtClean="0">
                <a:solidFill>
                  <a:schemeClr val="accent5"/>
                </a:solidFill>
              </a:rPr>
              <a:t>500x500</a:t>
            </a:r>
            <a:r>
              <a:rPr lang="pt-PT" dirty="0" smtClean="0"/>
              <a:t> </a:t>
            </a:r>
            <a:r>
              <a:rPr lang="pt-PT" dirty="0"/>
              <a:t>pixels </a:t>
            </a:r>
            <a:r>
              <a:rPr lang="pt-PT" dirty="0" smtClean="0"/>
              <a:t>FBP </a:t>
            </a:r>
            <a:r>
              <a:rPr lang="pt-PT" dirty="0" err="1" smtClean="0"/>
              <a:t>reconstructed</a:t>
            </a:r>
            <a:r>
              <a:rPr lang="pt-PT" dirty="0" smtClean="0"/>
              <a:t> </a:t>
            </a:r>
            <a:r>
              <a:rPr lang="pt-PT" dirty="0" err="1" smtClean="0"/>
              <a:t>images</a:t>
            </a:r>
            <a:endParaRPr lang="pt-PT" dirty="0" smtClean="0"/>
          </a:p>
          <a:p>
            <a:r>
              <a:rPr lang="pt-PT" dirty="0" smtClean="0"/>
              <a:t>X </a:t>
            </a:r>
            <a:r>
              <a:rPr lang="pt-PT" dirty="0" err="1" smtClean="0"/>
              <a:t>and</a:t>
            </a:r>
            <a:r>
              <a:rPr lang="pt-PT" dirty="0" smtClean="0"/>
              <a:t> Y FWHM </a:t>
            </a:r>
            <a:r>
              <a:rPr lang="pt-PT" dirty="0" err="1" smtClean="0"/>
              <a:t>and</a:t>
            </a:r>
            <a:r>
              <a:rPr lang="pt-PT" dirty="0" smtClean="0"/>
              <a:t> FWTM</a:t>
            </a:r>
          </a:p>
          <a:p>
            <a:r>
              <a:rPr lang="pt-PT" b="1" dirty="0" err="1" smtClean="0">
                <a:solidFill>
                  <a:schemeClr val="accent6"/>
                </a:solidFill>
              </a:rPr>
              <a:t>Better</a:t>
            </a:r>
            <a:r>
              <a:rPr lang="pt-PT" dirty="0" smtClean="0"/>
              <a:t> </a:t>
            </a:r>
            <a:r>
              <a:rPr lang="pt-PT" dirty="0" err="1" smtClean="0"/>
              <a:t>spatial</a:t>
            </a:r>
            <a:r>
              <a:rPr lang="pt-PT" dirty="0" smtClean="0"/>
              <a:t> </a:t>
            </a:r>
            <a:r>
              <a:rPr lang="pt-PT" dirty="0" err="1" smtClean="0"/>
              <a:t>resolutions</a:t>
            </a:r>
            <a:r>
              <a:rPr lang="pt-PT" dirty="0" smtClean="0"/>
              <a:t> are </a:t>
            </a:r>
            <a:r>
              <a:rPr lang="pt-PT" dirty="0" err="1" smtClean="0"/>
              <a:t>expected</a:t>
            </a:r>
            <a:r>
              <a:rPr lang="pt-PT" dirty="0" smtClean="0"/>
              <a:t>, </a:t>
            </a:r>
            <a:r>
              <a:rPr lang="pt-PT" dirty="0" err="1" smtClean="0"/>
              <a:t>but</a:t>
            </a:r>
            <a:r>
              <a:rPr lang="pt-PT" dirty="0" smtClean="0"/>
              <a:t> more </a:t>
            </a:r>
            <a:r>
              <a:rPr lang="pt-PT" dirty="0" err="1" smtClean="0"/>
              <a:t>image</a:t>
            </a:r>
            <a:r>
              <a:rPr lang="pt-PT" dirty="0" smtClean="0"/>
              <a:t> noise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8371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468026" y="127586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97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11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682034" y="127585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08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905771" y="127586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48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442763" y="365191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71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672307" y="361049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43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905771" y="365191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8151779" y="304836"/>
            <a:ext cx="1992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b="1" dirty="0" err="1" smtClean="0">
                <a:solidFill>
                  <a:schemeClr val="accent6"/>
                </a:solidFill>
              </a:rPr>
              <a:t>Best</a:t>
            </a:r>
            <a:r>
              <a:rPr lang="pt-PT" sz="2400" b="1" dirty="0" smtClean="0">
                <a:solidFill>
                  <a:schemeClr val="accent6"/>
                </a:solidFill>
              </a:rPr>
              <a:t> </a:t>
            </a:r>
            <a:r>
              <a:rPr lang="pt-PT" sz="2400" b="1" dirty="0" err="1" smtClean="0">
                <a:solidFill>
                  <a:schemeClr val="accent6"/>
                </a:solidFill>
              </a:rPr>
              <a:t>FWHM_y</a:t>
            </a:r>
            <a:endParaRPr lang="pt-PT" sz="2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428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448571" y="584785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383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17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672307" y="594513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09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905771" y="584785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2538920" y="373567"/>
            <a:ext cx="1987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b="1" dirty="0" err="1" smtClean="0">
                <a:solidFill>
                  <a:schemeClr val="accent6"/>
                </a:solidFill>
              </a:rPr>
              <a:t>Best</a:t>
            </a:r>
            <a:r>
              <a:rPr lang="pt-PT" sz="2400" b="1" dirty="0" smtClean="0">
                <a:solidFill>
                  <a:schemeClr val="accent6"/>
                </a:solidFill>
              </a:rPr>
              <a:t> </a:t>
            </a:r>
            <a:r>
              <a:rPr lang="pt-PT" sz="2400" b="1" dirty="0" err="1" smtClean="0">
                <a:solidFill>
                  <a:schemeClr val="accent6"/>
                </a:solidFill>
              </a:rPr>
              <a:t>FWHM_x</a:t>
            </a:r>
            <a:endParaRPr lang="pt-PT" sz="2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58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 err="1" smtClean="0"/>
              <a:t>Results</a:t>
            </a:r>
            <a:endParaRPr lang="pt-PT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PT" b="1" dirty="0">
                <a:solidFill>
                  <a:schemeClr val="accent5"/>
                </a:solidFill>
              </a:rPr>
              <a:t>200x200</a:t>
            </a:r>
            <a:r>
              <a:rPr lang="pt-PT" dirty="0"/>
              <a:t> pixels </a:t>
            </a:r>
            <a:endParaRPr lang="pt-PT" dirty="0" smtClean="0"/>
          </a:p>
          <a:p>
            <a:r>
              <a:rPr lang="pt-PT" dirty="0" err="1" smtClean="0"/>
              <a:t>sinograms</a:t>
            </a:r>
            <a:r>
              <a:rPr lang="pt-PT" dirty="0" smtClean="0"/>
              <a:t> </a:t>
            </a:r>
            <a:r>
              <a:rPr lang="pt-PT" dirty="0" err="1" smtClean="0"/>
              <a:t>and</a:t>
            </a:r>
            <a:r>
              <a:rPr lang="pt-PT" dirty="0" smtClean="0"/>
              <a:t> </a:t>
            </a:r>
            <a:r>
              <a:rPr lang="pt-PT" dirty="0" err="1" smtClean="0"/>
              <a:t>reconstructed</a:t>
            </a:r>
            <a:r>
              <a:rPr lang="pt-PT" dirty="0" smtClean="0"/>
              <a:t> </a:t>
            </a:r>
            <a:r>
              <a:rPr lang="pt-PT" dirty="0" err="1" smtClean="0"/>
              <a:t>images</a:t>
            </a:r>
            <a:r>
              <a:rPr lang="pt-PT" dirty="0" smtClean="0"/>
              <a:t> (FPB)</a:t>
            </a:r>
          </a:p>
          <a:p>
            <a:endParaRPr lang="pt-PT" dirty="0"/>
          </a:p>
          <a:p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Other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image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sizes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(300x300, 400x400, 500x500) are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available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in a .zip file.</a:t>
            </a:r>
            <a:endParaRPr lang="pt-PT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7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468026" y="127586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</p:spTree>
    <p:extLst>
      <p:ext uri="{BB962C8B-B14F-4D97-AF65-F5344CB8AC3E}">
        <p14:creationId xmlns:p14="http://schemas.microsoft.com/office/powerpoint/2010/main" val="78276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682034" y="127585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</p:spTree>
    <p:extLst>
      <p:ext uri="{BB962C8B-B14F-4D97-AF65-F5344CB8AC3E}">
        <p14:creationId xmlns:p14="http://schemas.microsoft.com/office/powerpoint/2010/main" val="10644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905771" y="127586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458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442763" y="365191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400" y="1028700"/>
            <a:ext cx="5829300" cy="58293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11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672307" y="361049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4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20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905771" y="365191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69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448571" y="584785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400" y="1028700"/>
            <a:ext cx="5829300" cy="58293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73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672307" y="594513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400" y="1028700"/>
            <a:ext cx="5829300" cy="58293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06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905771" y="584785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400" y="1028700"/>
            <a:ext cx="5829300" cy="58293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40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 err="1" smtClean="0"/>
              <a:t>Results</a:t>
            </a:r>
            <a:endParaRPr lang="pt-PT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PT" b="1" dirty="0" smtClean="0">
                <a:solidFill>
                  <a:schemeClr val="accent5"/>
                </a:solidFill>
              </a:rPr>
              <a:t>500x500</a:t>
            </a:r>
            <a:r>
              <a:rPr lang="pt-PT" dirty="0" smtClean="0"/>
              <a:t> </a:t>
            </a:r>
            <a:r>
              <a:rPr lang="pt-PT" dirty="0"/>
              <a:t>pixels </a:t>
            </a:r>
            <a:endParaRPr lang="pt-PT" dirty="0" smtClean="0"/>
          </a:p>
          <a:p>
            <a:r>
              <a:rPr lang="pt-PT" dirty="0" err="1" smtClean="0"/>
              <a:t>sinograms</a:t>
            </a:r>
            <a:r>
              <a:rPr lang="pt-PT" dirty="0" smtClean="0"/>
              <a:t> </a:t>
            </a:r>
            <a:r>
              <a:rPr lang="pt-PT" dirty="0" err="1" smtClean="0"/>
              <a:t>and</a:t>
            </a:r>
            <a:r>
              <a:rPr lang="pt-PT" dirty="0" smtClean="0"/>
              <a:t> </a:t>
            </a:r>
            <a:r>
              <a:rPr lang="pt-PT" dirty="0" err="1" smtClean="0"/>
              <a:t>reconstructed</a:t>
            </a:r>
            <a:r>
              <a:rPr lang="pt-PT" dirty="0" smtClean="0"/>
              <a:t> </a:t>
            </a:r>
            <a:r>
              <a:rPr lang="pt-PT" dirty="0" err="1" smtClean="0"/>
              <a:t>images</a:t>
            </a:r>
            <a:r>
              <a:rPr lang="pt-PT" dirty="0" smtClean="0"/>
              <a:t> (FPB)</a:t>
            </a:r>
          </a:p>
          <a:p>
            <a:endParaRPr lang="pt-PT" dirty="0"/>
          </a:p>
          <a:p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Other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image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sizes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(300x300, 400x400, 500x500) are </a:t>
            </a:r>
            <a:r>
              <a:rPr lang="pt-PT" dirty="0" err="1" smtClean="0">
                <a:solidFill>
                  <a:schemeClr val="bg1">
                    <a:lumMod val="65000"/>
                  </a:schemeClr>
                </a:solidFill>
              </a:rPr>
              <a:t>available</a:t>
            </a:r>
            <a:r>
              <a:rPr lang="pt-PT" dirty="0" smtClean="0">
                <a:solidFill>
                  <a:schemeClr val="bg1">
                    <a:lumMod val="65000"/>
                  </a:schemeClr>
                </a:solidFill>
              </a:rPr>
              <a:t> in a .zip file.</a:t>
            </a:r>
            <a:endParaRPr lang="pt-PT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69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468026" y="127586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4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2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682034" y="127585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4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3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905771" y="127586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4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62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442763" y="365191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4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47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672307" y="361049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4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30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905771" y="365191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4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572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448571" y="584785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4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62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672307" y="594513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4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77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905771" y="584785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540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98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 err="1" smtClean="0"/>
              <a:t>Results</a:t>
            </a:r>
            <a:endParaRPr lang="pt-PT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321013" y="3602038"/>
            <a:ext cx="11507821" cy="1655762"/>
          </a:xfrm>
        </p:spPr>
        <p:txBody>
          <a:bodyPr>
            <a:normAutofit/>
          </a:bodyPr>
          <a:lstStyle/>
          <a:p>
            <a:r>
              <a:rPr lang="pt-PT" dirty="0" err="1" smtClean="0"/>
              <a:t>Effect</a:t>
            </a:r>
            <a:r>
              <a:rPr lang="pt-PT" dirty="0" smtClean="0"/>
              <a:t> </a:t>
            </a:r>
            <a:r>
              <a:rPr lang="pt-PT" dirty="0" err="1" smtClean="0"/>
              <a:t>of</a:t>
            </a:r>
            <a:r>
              <a:rPr lang="pt-PT" dirty="0" smtClean="0"/>
              <a:t> </a:t>
            </a:r>
            <a:r>
              <a:rPr lang="pt-PT" dirty="0" err="1" smtClean="0"/>
              <a:t>the</a:t>
            </a:r>
            <a:r>
              <a:rPr lang="pt-PT" dirty="0" smtClean="0"/>
              <a:t> </a:t>
            </a:r>
            <a:r>
              <a:rPr lang="pt-PT" dirty="0" err="1" smtClean="0"/>
              <a:t>number</a:t>
            </a:r>
            <a:r>
              <a:rPr lang="pt-PT" dirty="0" smtClean="0"/>
              <a:t> </a:t>
            </a:r>
            <a:r>
              <a:rPr lang="pt-PT" dirty="0" err="1" smtClean="0"/>
              <a:t>of</a:t>
            </a:r>
            <a:r>
              <a:rPr lang="pt-PT" dirty="0" smtClean="0"/>
              <a:t> pixels </a:t>
            </a:r>
            <a:r>
              <a:rPr lang="pt-PT" dirty="0" err="1" smtClean="0"/>
              <a:t>on</a:t>
            </a:r>
            <a:r>
              <a:rPr lang="pt-PT" dirty="0" smtClean="0"/>
              <a:t> </a:t>
            </a:r>
            <a:r>
              <a:rPr lang="pt-PT" dirty="0" err="1" smtClean="0"/>
              <a:t>the</a:t>
            </a:r>
            <a:r>
              <a:rPr lang="pt-PT" dirty="0" smtClean="0"/>
              <a:t> </a:t>
            </a:r>
            <a:r>
              <a:rPr lang="pt-PT" dirty="0" err="1" smtClean="0"/>
              <a:t>sinograms</a:t>
            </a:r>
            <a:r>
              <a:rPr lang="pt-PT" dirty="0" smtClean="0"/>
              <a:t> </a:t>
            </a:r>
            <a:r>
              <a:rPr lang="pt-PT" dirty="0" err="1" smtClean="0"/>
              <a:t>and</a:t>
            </a:r>
            <a:r>
              <a:rPr lang="pt-PT" dirty="0" smtClean="0"/>
              <a:t> </a:t>
            </a:r>
            <a:r>
              <a:rPr lang="pt-PT" dirty="0" err="1" smtClean="0"/>
              <a:t>reconstructed</a:t>
            </a:r>
            <a:r>
              <a:rPr lang="pt-PT" dirty="0" smtClean="0"/>
              <a:t> </a:t>
            </a:r>
            <a:r>
              <a:rPr lang="pt-PT" dirty="0" err="1" smtClean="0"/>
              <a:t>images</a:t>
            </a:r>
            <a:r>
              <a:rPr lang="pt-PT" dirty="0" smtClean="0"/>
              <a:t> (FPB):</a:t>
            </a:r>
          </a:p>
          <a:p>
            <a:r>
              <a:rPr lang="pt-PT" dirty="0" err="1"/>
              <a:t>o</a:t>
            </a:r>
            <a:r>
              <a:rPr lang="pt-PT" dirty="0" err="1" smtClean="0"/>
              <a:t>ne</a:t>
            </a:r>
            <a:r>
              <a:rPr lang="pt-PT" dirty="0" smtClean="0"/>
              <a:t> </a:t>
            </a:r>
            <a:r>
              <a:rPr lang="pt-PT" dirty="0" err="1" smtClean="0"/>
              <a:t>example</a:t>
            </a:r>
            <a:r>
              <a:rPr lang="pt-PT" dirty="0" smtClean="0"/>
              <a:t>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1468026" y="127586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058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468026" y="127586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64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468026" y="127586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47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468026" y="127586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28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0728" y="1"/>
            <a:ext cx="881271" cy="88849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1468026" y="127586"/>
            <a:ext cx="158112" cy="1581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6248022" y="285700"/>
            <a:ext cx="4984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reconstructed</a:t>
            </a:r>
            <a:r>
              <a:rPr lang="pt-PT" sz="1100" dirty="0" smtClean="0"/>
              <a:t> </a:t>
            </a:r>
            <a:r>
              <a:rPr lang="pt-PT" sz="1100" dirty="0" err="1" smtClean="0"/>
              <a:t>image</a:t>
            </a:r>
            <a:r>
              <a:rPr lang="pt-PT" sz="1100" dirty="0" smtClean="0"/>
              <a:t> </a:t>
            </a:r>
            <a:r>
              <a:rPr lang="pt-PT" sz="1100" dirty="0" err="1" smtClean="0"/>
              <a:t>was</a:t>
            </a:r>
            <a:r>
              <a:rPr lang="pt-PT" sz="1100" dirty="0" smtClean="0"/>
              <a:t> </a:t>
            </a:r>
            <a:r>
              <a:rPr lang="pt-PT" sz="1100" dirty="0" err="1" smtClean="0"/>
              <a:t>rotated</a:t>
            </a:r>
            <a:r>
              <a:rPr lang="pt-PT" sz="1100" dirty="0" smtClean="0"/>
              <a:t> 180 </a:t>
            </a:r>
            <a:r>
              <a:rPr lang="pt-PT" sz="1100" dirty="0" err="1" smtClean="0"/>
              <a:t>degrees</a:t>
            </a:r>
            <a:r>
              <a:rPr lang="pt-PT" sz="1100" dirty="0" smtClean="0"/>
              <a:t> to </a:t>
            </a:r>
            <a:r>
              <a:rPr lang="pt-PT" sz="1100" dirty="0" err="1" smtClean="0"/>
              <a:t>correspond</a:t>
            </a:r>
            <a:r>
              <a:rPr lang="pt-PT" sz="1100" dirty="0" smtClean="0"/>
              <a:t> to </a:t>
            </a:r>
            <a:r>
              <a:rPr lang="pt-PT" sz="1100" dirty="0" err="1" smtClean="0"/>
              <a:t>the</a:t>
            </a:r>
            <a:r>
              <a:rPr lang="pt-PT" sz="1100" dirty="0" smtClean="0"/>
              <a:t> </a:t>
            </a:r>
            <a:r>
              <a:rPr lang="pt-PT" sz="1100" dirty="0" err="1" smtClean="0"/>
              <a:t>diagram</a:t>
            </a:r>
            <a:r>
              <a:rPr lang="pt-PT" sz="1100" dirty="0"/>
              <a:t> </a:t>
            </a:r>
            <a:r>
              <a:rPr lang="pt-PT" sz="1100" dirty="0" smtClean="0">
                <a:sym typeface="Wingdings" panose="05000000000000000000" pitchFamily="2" charset="2"/>
              </a:rPr>
              <a:t></a:t>
            </a:r>
            <a:endParaRPr lang="pt-PT" sz="11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8700"/>
            <a:ext cx="58293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1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 smtClean="0"/>
              <a:t>Discussion</a:t>
            </a:r>
            <a:endParaRPr lang="pt-PT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5961434" cy="4351338"/>
          </a:xfrm>
        </p:spPr>
        <p:txBody>
          <a:bodyPr>
            <a:normAutofit lnSpcReduction="10000"/>
          </a:bodyPr>
          <a:lstStyle/>
          <a:p>
            <a:r>
              <a:rPr lang="pt-PT" sz="2000" dirty="0" smtClean="0"/>
              <a:t>To </a:t>
            </a:r>
            <a:r>
              <a:rPr lang="pt-PT" sz="2000" dirty="0" err="1" smtClean="0"/>
              <a:t>report</a:t>
            </a:r>
            <a:r>
              <a:rPr lang="pt-PT" sz="2000" dirty="0" smtClean="0"/>
              <a:t> </a:t>
            </a:r>
            <a:r>
              <a:rPr lang="pt-PT" sz="2000" dirty="0" err="1" smtClean="0"/>
              <a:t>the</a:t>
            </a:r>
            <a:r>
              <a:rPr lang="pt-PT" sz="2000" dirty="0" smtClean="0"/>
              <a:t> NEMA </a:t>
            </a:r>
            <a:r>
              <a:rPr lang="pt-PT" sz="2000" dirty="0" err="1" smtClean="0"/>
              <a:t>spatial</a:t>
            </a:r>
            <a:r>
              <a:rPr lang="pt-PT" sz="2000" dirty="0" smtClean="0"/>
              <a:t> </a:t>
            </a:r>
            <a:r>
              <a:rPr lang="pt-PT" sz="2000" dirty="0" err="1" smtClean="0"/>
              <a:t>resolution</a:t>
            </a:r>
            <a:r>
              <a:rPr lang="pt-PT" sz="2000" dirty="0" smtClean="0"/>
              <a:t>, </a:t>
            </a:r>
            <a:r>
              <a:rPr lang="pt-PT" sz="2000" dirty="0" err="1" smtClean="0"/>
              <a:t>we</a:t>
            </a:r>
            <a:r>
              <a:rPr lang="pt-PT" sz="2000" dirty="0" smtClean="0"/>
              <a:t> </a:t>
            </a:r>
            <a:r>
              <a:rPr lang="pt-PT" sz="2000" dirty="0" err="1" smtClean="0"/>
              <a:t>should</a:t>
            </a:r>
            <a:r>
              <a:rPr lang="pt-PT" sz="2000" dirty="0" smtClean="0"/>
              <a:t> </a:t>
            </a:r>
            <a:r>
              <a:rPr lang="pt-PT" sz="2000" dirty="0" err="1" smtClean="0"/>
              <a:t>have</a:t>
            </a:r>
            <a:r>
              <a:rPr lang="pt-PT" sz="2000" dirty="0" smtClean="0"/>
              <a:t> a </a:t>
            </a:r>
            <a:r>
              <a:rPr lang="pt-PT" sz="2000" dirty="0" err="1" smtClean="0"/>
              <a:t>point</a:t>
            </a:r>
            <a:r>
              <a:rPr lang="pt-PT" sz="2000" dirty="0" smtClean="0"/>
              <a:t> </a:t>
            </a:r>
            <a:r>
              <a:rPr lang="pt-PT" sz="2000" dirty="0" err="1" smtClean="0"/>
              <a:t>source</a:t>
            </a:r>
            <a:r>
              <a:rPr lang="pt-PT" sz="2000" dirty="0" smtClean="0"/>
              <a:t> in </a:t>
            </a:r>
            <a:r>
              <a:rPr lang="pt-PT" sz="2000" dirty="0" err="1" smtClean="0"/>
              <a:t>the</a:t>
            </a:r>
            <a:r>
              <a:rPr lang="pt-PT" sz="2000" dirty="0" smtClean="0"/>
              <a:t> </a:t>
            </a:r>
            <a:r>
              <a:rPr lang="pt-PT" sz="2000" dirty="0" err="1" smtClean="0"/>
              <a:t>positions</a:t>
            </a:r>
            <a:r>
              <a:rPr lang="pt-PT" sz="2000" dirty="0" smtClean="0"/>
              <a:t> </a:t>
            </a:r>
            <a:r>
              <a:rPr lang="pt-PT" sz="2000" dirty="0" err="1" smtClean="0"/>
              <a:t>shown</a:t>
            </a:r>
            <a:r>
              <a:rPr lang="pt-PT" sz="2000" dirty="0" smtClean="0"/>
              <a:t> in </a:t>
            </a:r>
            <a:r>
              <a:rPr lang="pt-PT" sz="2000" dirty="0" err="1" smtClean="0"/>
              <a:t>the</a:t>
            </a:r>
            <a:r>
              <a:rPr lang="pt-PT" sz="2000" dirty="0" smtClean="0"/>
              <a:t> figure. </a:t>
            </a:r>
            <a:r>
              <a:rPr lang="pt-PT" sz="2000" dirty="0" err="1" smtClean="0"/>
              <a:t>We</a:t>
            </a:r>
            <a:r>
              <a:rPr lang="pt-PT" sz="2000" dirty="0" smtClean="0"/>
              <a:t> </a:t>
            </a:r>
            <a:r>
              <a:rPr lang="pt-PT" sz="2000" dirty="0" err="1" smtClean="0"/>
              <a:t>have</a:t>
            </a:r>
            <a:r>
              <a:rPr lang="pt-PT" sz="2000" dirty="0" smtClean="0"/>
              <a:t> </a:t>
            </a:r>
            <a:r>
              <a:rPr lang="pt-PT" sz="2000" dirty="0" err="1" smtClean="0"/>
              <a:t>positions</a:t>
            </a:r>
            <a:r>
              <a:rPr lang="pt-PT" sz="2000" dirty="0" smtClean="0"/>
              <a:t> </a:t>
            </a:r>
            <a:r>
              <a:rPr lang="pt-PT" sz="2000" dirty="0" err="1" smtClean="0"/>
              <a:t>at</a:t>
            </a:r>
            <a:r>
              <a:rPr lang="pt-PT" sz="2000" dirty="0" smtClean="0"/>
              <a:t> </a:t>
            </a:r>
            <a:r>
              <a:rPr lang="pt-PT" sz="2000" dirty="0" err="1" smtClean="0"/>
              <a:t>center</a:t>
            </a:r>
            <a:r>
              <a:rPr lang="pt-PT" sz="2000" dirty="0" smtClean="0"/>
              <a:t> FOV </a:t>
            </a:r>
            <a:r>
              <a:rPr lang="pt-PT" sz="2000" dirty="0" err="1" smtClean="0"/>
              <a:t>and</a:t>
            </a:r>
            <a:r>
              <a:rPr lang="pt-PT" sz="2000" dirty="0" smtClean="0"/>
              <a:t> </a:t>
            </a:r>
            <a:r>
              <a:rPr lang="pt-PT" sz="2000" dirty="0" err="1" smtClean="0"/>
              <a:t>at</a:t>
            </a:r>
            <a:r>
              <a:rPr lang="pt-PT" sz="2000" dirty="0" smtClean="0"/>
              <a:t> 3 cm </a:t>
            </a:r>
            <a:r>
              <a:rPr lang="pt-PT" sz="2000" dirty="0" err="1" smtClean="0"/>
              <a:t>from</a:t>
            </a:r>
            <a:r>
              <a:rPr lang="pt-PT" sz="2000" dirty="0" smtClean="0"/>
              <a:t> </a:t>
            </a:r>
            <a:r>
              <a:rPr lang="pt-PT" sz="2000" dirty="0" err="1" smtClean="0"/>
              <a:t>the</a:t>
            </a:r>
            <a:r>
              <a:rPr lang="pt-PT" sz="2000" dirty="0" smtClean="0"/>
              <a:t> </a:t>
            </a:r>
            <a:r>
              <a:rPr lang="pt-PT" sz="2000" dirty="0" err="1" smtClean="0"/>
              <a:t>center</a:t>
            </a:r>
            <a:r>
              <a:rPr lang="pt-PT" sz="2000" dirty="0" smtClean="0"/>
              <a:t> FOV, </a:t>
            </a:r>
            <a:r>
              <a:rPr lang="pt-PT" sz="2000" dirty="0" err="1" smtClean="0"/>
              <a:t>along</a:t>
            </a:r>
            <a:r>
              <a:rPr lang="pt-PT" sz="2000" dirty="0" smtClean="0"/>
              <a:t> X </a:t>
            </a:r>
            <a:r>
              <a:rPr lang="pt-PT" sz="2000" dirty="0" err="1" smtClean="0"/>
              <a:t>and</a:t>
            </a:r>
            <a:r>
              <a:rPr lang="pt-PT" sz="2000" dirty="0" smtClean="0"/>
              <a:t> Y (</a:t>
            </a:r>
            <a:r>
              <a:rPr lang="pt-PT" sz="2000" dirty="0" err="1" smtClean="0"/>
              <a:t>it</a:t>
            </a:r>
            <a:r>
              <a:rPr lang="pt-PT" sz="2000" dirty="0" smtClean="0"/>
              <a:t> </a:t>
            </a:r>
            <a:r>
              <a:rPr lang="pt-PT" sz="2000" dirty="0" err="1" smtClean="0"/>
              <a:t>is</a:t>
            </a:r>
            <a:r>
              <a:rPr lang="pt-PT" sz="2000" dirty="0" smtClean="0"/>
              <a:t> </a:t>
            </a:r>
            <a:r>
              <a:rPr lang="pt-PT" sz="2000" dirty="0" err="1" smtClean="0"/>
              <a:t>not</a:t>
            </a:r>
            <a:r>
              <a:rPr lang="pt-PT" sz="2000" dirty="0" smtClean="0"/>
              <a:t> </a:t>
            </a:r>
            <a:r>
              <a:rPr lang="pt-PT" sz="2000" dirty="0" err="1" smtClean="0"/>
              <a:t>very</a:t>
            </a:r>
            <a:r>
              <a:rPr lang="pt-PT" sz="2000" dirty="0" smtClean="0"/>
              <a:t> </a:t>
            </a:r>
            <a:r>
              <a:rPr lang="pt-PT" sz="2000" dirty="0" err="1" smtClean="0"/>
              <a:t>different</a:t>
            </a:r>
            <a:r>
              <a:rPr lang="pt-PT" sz="2000" dirty="0" smtClean="0"/>
              <a:t>). </a:t>
            </a:r>
          </a:p>
          <a:p>
            <a:r>
              <a:rPr lang="pt-PT" sz="2000" dirty="0" err="1" smtClean="0"/>
              <a:t>Our</a:t>
            </a:r>
            <a:r>
              <a:rPr lang="pt-PT" sz="2000" dirty="0" smtClean="0"/>
              <a:t> </a:t>
            </a:r>
            <a:r>
              <a:rPr lang="pt-PT" sz="2000" dirty="0" err="1" smtClean="0"/>
              <a:t>sources</a:t>
            </a:r>
            <a:r>
              <a:rPr lang="pt-PT" sz="2000" dirty="0" smtClean="0"/>
              <a:t> are </a:t>
            </a:r>
            <a:r>
              <a:rPr lang="pt-PT" sz="2000" dirty="0" err="1" smtClean="0"/>
              <a:t>different</a:t>
            </a:r>
            <a:r>
              <a:rPr lang="pt-PT" sz="2000" dirty="0" smtClean="0"/>
              <a:t> </a:t>
            </a:r>
            <a:r>
              <a:rPr lang="pt-PT" sz="2000" dirty="0" err="1" smtClean="0"/>
              <a:t>and</a:t>
            </a:r>
            <a:r>
              <a:rPr lang="pt-PT" sz="2000" dirty="0" smtClean="0"/>
              <a:t> </a:t>
            </a:r>
            <a:r>
              <a:rPr lang="pt-PT" sz="2000" dirty="0" err="1" smtClean="0"/>
              <a:t>the</a:t>
            </a:r>
            <a:r>
              <a:rPr lang="pt-PT" sz="2000" dirty="0" smtClean="0"/>
              <a:t> </a:t>
            </a:r>
            <a:r>
              <a:rPr lang="pt-PT" sz="2000" dirty="0" err="1" smtClean="0"/>
              <a:t>positions</a:t>
            </a:r>
            <a:r>
              <a:rPr lang="pt-PT" sz="2000" dirty="0" smtClean="0"/>
              <a:t> </a:t>
            </a:r>
            <a:r>
              <a:rPr lang="pt-PT" sz="2000" dirty="0" err="1" smtClean="0"/>
              <a:t>were</a:t>
            </a:r>
            <a:r>
              <a:rPr lang="pt-PT" sz="2000" dirty="0" smtClean="0"/>
              <a:t> </a:t>
            </a:r>
            <a:r>
              <a:rPr lang="pt-PT" sz="2000" dirty="0" err="1" smtClean="0"/>
              <a:t>also</a:t>
            </a:r>
            <a:r>
              <a:rPr lang="pt-PT" sz="2000" dirty="0" smtClean="0"/>
              <a:t> </a:t>
            </a:r>
            <a:r>
              <a:rPr lang="pt-PT" sz="2000" dirty="0" err="1" smtClean="0"/>
              <a:t>different</a:t>
            </a:r>
            <a:r>
              <a:rPr lang="pt-PT" sz="2000" dirty="0" smtClean="0"/>
              <a:t>. </a:t>
            </a:r>
            <a:r>
              <a:rPr lang="pt-PT" sz="2000" dirty="0" err="1" smtClean="0"/>
              <a:t>So</a:t>
            </a:r>
            <a:r>
              <a:rPr lang="pt-PT" sz="2000" dirty="0" smtClean="0"/>
              <a:t>, </a:t>
            </a:r>
            <a:r>
              <a:rPr lang="pt-PT" sz="2000" dirty="0" err="1" smtClean="0"/>
              <a:t>we</a:t>
            </a:r>
            <a:r>
              <a:rPr lang="pt-PT" sz="2000" dirty="0" smtClean="0"/>
              <a:t> are </a:t>
            </a:r>
            <a:r>
              <a:rPr lang="pt-PT" sz="2000" dirty="0" err="1" smtClean="0"/>
              <a:t>not</a:t>
            </a:r>
            <a:r>
              <a:rPr lang="pt-PT" sz="2000" dirty="0" smtClean="0"/>
              <a:t> </a:t>
            </a:r>
            <a:r>
              <a:rPr lang="pt-PT" sz="2000" dirty="0" err="1" smtClean="0"/>
              <a:t>yet</a:t>
            </a:r>
            <a:r>
              <a:rPr lang="pt-PT" sz="2000" dirty="0" smtClean="0"/>
              <a:t> </a:t>
            </a:r>
            <a:r>
              <a:rPr lang="pt-PT" sz="2000" dirty="0" err="1" smtClean="0"/>
              <a:t>reporting</a:t>
            </a:r>
            <a:r>
              <a:rPr lang="pt-PT" sz="2000" dirty="0" smtClean="0"/>
              <a:t> NEMA </a:t>
            </a:r>
            <a:r>
              <a:rPr lang="pt-PT" sz="2000" dirty="0" err="1" smtClean="0"/>
              <a:t>spatial</a:t>
            </a:r>
            <a:r>
              <a:rPr lang="pt-PT" sz="2000" dirty="0" smtClean="0"/>
              <a:t> </a:t>
            </a:r>
            <a:r>
              <a:rPr lang="pt-PT" sz="2000" dirty="0" err="1" smtClean="0"/>
              <a:t>resolutions</a:t>
            </a:r>
            <a:r>
              <a:rPr lang="pt-PT" sz="2000" dirty="0" smtClean="0"/>
              <a:t>, </a:t>
            </a:r>
            <a:r>
              <a:rPr lang="pt-PT" sz="2000" dirty="0" err="1" smtClean="0"/>
              <a:t>but</a:t>
            </a:r>
            <a:r>
              <a:rPr lang="pt-PT" sz="2000" dirty="0" smtClean="0"/>
              <a:t> figures </a:t>
            </a:r>
            <a:r>
              <a:rPr lang="pt-PT" sz="2000" dirty="0" err="1" smtClean="0"/>
              <a:t>that</a:t>
            </a:r>
            <a:r>
              <a:rPr lang="pt-PT" sz="2000" dirty="0" smtClean="0"/>
              <a:t> </a:t>
            </a:r>
            <a:r>
              <a:rPr lang="pt-PT" sz="2000" dirty="0" err="1" smtClean="0"/>
              <a:t>indicate</a:t>
            </a:r>
            <a:r>
              <a:rPr lang="pt-PT" sz="2000" dirty="0" smtClean="0"/>
              <a:t> </a:t>
            </a:r>
            <a:r>
              <a:rPr lang="pt-PT" sz="2000" dirty="0" err="1" smtClean="0"/>
              <a:t>what</a:t>
            </a:r>
            <a:r>
              <a:rPr lang="pt-PT" sz="2000" dirty="0" smtClean="0"/>
              <a:t> </a:t>
            </a:r>
            <a:r>
              <a:rPr lang="pt-PT" sz="2000" dirty="0" err="1" smtClean="0"/>
              <a:t>we</a:t>
            </a:r>
            <a:r>
              <a:rPr lang="pt-PT" sz="2000" dirty="0" smtClean="0"/>
              <a:t> can </a:t>
            </a:r>
            <a:r>
              <a:rPr lang="pt-PT" sz="2000" dirty="0" err="1" smtClean="0"/>
              <a:t>expect</a:t>
            </a:r>
            <a:r>
              <a:rPr lang="pt-PT" sz="2000" dirty="0" smtClean="0"/>
              <a:t> in </a:t>
            </a:r>
            <a:r>
              <a:rPr lang="pt-PT" sz="2000" dirty="0" err="1" smtClean="0"/>
              <a:t>close</a:t>
            </a:r>
            <a:r>
              <a:rPr lang="pt-PT" sz="2000" dirty="0" smtClean="0"/>
              <a:t> to NEMA </a:t>
            </a:r>
            <a:r>
              <a:rPr lang="pt-PT" sz="2000" dirty="0" err="1" smtClean="0"/>
              <a:t>conditions</a:t>
            </a:r>
            <a:r>
              <a:rPr lang="pt-PT" sz="2000" dirty="0" smtClean="0"/>
              <a:t>. </a:t>
            </a:r>
          </a:p>
          <a:p>
            <a:r>
              <a:rPr lang="pt-PT" sz="2000" dirty="0" smtClean="0"/>
              <a:t>I </a:t>
            </a:r>
            <a:r>
              <a:rPr lang="pt-PT" sz="2000" dirty="0" err="1" smtClean="0"/>
              <a:t>have</a:t>
            </a:r>
            <a:r>
              <a:rPr lang="pt-PT" sz="2000" dirty="0" smtClean="0"/>
              <a:t> </a:t>
            </a:r>
            <a:r>
              <a:rPr lang="pt-PT" sz="2000" dirty="0" err="1" smtClean="0"/>
              <a:t>summed</a:t>
            </a:r>
            <a:r>
              <a:rPr lang="pt-PT" sz="2000" dirty="0" smtClean="0"/>
              <a:t> </a:t>
            </a:r>
            <a:r>
              <a:rPr lang="pt-PT" sz="2000" dirty="0" err="1" smtClean="0"/>
              <a:t>the</a:t>
            </a:r>
            <a:r>
              <a:rPr lang="pt-PT" sz="2000" dirty="0" smtClean="0"/>
              <a:t> data </a:t>
            </a:r>
            <a:r>
              <a:rPr lang="pt-PT" sz="2000" dirty="0" err="1" smtClean="0"/>
              <a:t>corresponding</a:t>
            </a:r>
            <a:r>
              <a:rPr lang="pt-PT" sz="2000" dirty="0" smtClean="0"/>
              <a:t> to </a:t>
            </a:r>
            <a:r>
              <a:rPr lang="pt-PT" sz="2000" dirty="0" err="1" smtClean="0"/>
              <a:t>all</a:t>
            </a:r>
            <a:r>
              <a:rPr lang="pt-PT" sz="2000" dirty="0" smtClean="0"/>
              <a:t> </a:t>
            </a:r>
            <a:r>
              <a:rPr lang="pt-PT" sz="2000" dirty="0" err="1" smtClean="0"/>
              <a:t>the</a:t>
            </a:r>
            <a:r>
              <a:rPr lang="pt-PT" sz="2000" dirty="0" smtClean="0"/>
              <a:t> planes (</a:t>
            </a:r>
            <a:r>
              <a:rPr lang="pt-PT" sz="2000" dirty="0" err="1" smtClean="0"/>
              <a:t>line</a:t>
            </a:r>
            <a:r>
              <a:rPr lang="pt-PT" sz="2000" dirty="0" smtClean="0"/>
              <a:t> </a:t>
            </a:r>
            <a:r>
              <a:rPr lang="pt-PT" sz="2000" dirty="0" err="1" smtClean="0"/>
              <a:t>source</a:t>
            </a:r>
            <a:r>
              <a:rPr lang="pt-PT" sz="2000" dirty="0" smtClean="0"/>
              <a:t>; NEMA </a:t>
            </a:r>
            <a:r>
              <a:rPr lang="pt-PT" sz="2000" dirty="0" err="1" smtClean="0"/>
              <a:t>requires</a:t>
            </a:r>
            <a:r>
              <a:rPr lang="pt-PT" sz="2000" dirty="0" smtClean="0"/>
              <a:t> </a:t>
            </a:r>
            <a:r>
              <a:rPr lang="pt-PT" sz="2000" dirty="0" err="1" smtClean="0"/>
              <a:t>point</a:t>
            </a:r>
            <a:r>
              <a:rPr lang="pt-PT" sz="2000" dirty="0" smtClean="0"/>
              <a:t> </a:t>
            </a:r>
            <a:r>
              <a:rPr lang="pt-PT" sz="2000" dirty="0" err="1" smtClean="0"/>
              <a:t>source</a:t>
            </a:r>
            <a:r>
              <a:rPr lang="pt-PT" sz="2000" dirty="0" smtClean="0"/>
              <a:t>). </a:t>
            </a:r>
            <a:r>
              <a:rPr lang="pt-PT" sz="2000" dirty="0" err="1" smtClean="0"/>
              <a:t>So</a:t>
            </a:r>
            <a:r>
              <a:rPr lang="pt-PT" sz="2000" dirty="0" smtClean="0"/>
              <a:t>, I </a:t>
            </a:r>
            <a:r>
              <a:rPr lang="pt-PT" sz="2000" dirty="0" err="1" smtClean="0"/>
              <a:t>did</a:t>
            </a:r>
            <a:r>
              <a:rPr lang="pt-PT" sz="2000" dirty="0" smtClean="0"/>
              <a:t> </a:t>
            </a:r>
            <a:r>
              <a:rPr lang="pt-PT" sz="2000" dirty="0" err="1" smtClean="0"/>
              <a:t>not</a:t>
            </a:r>
            <a:r>
              <a:rPr lang="pt-PT" sz="2000" dirty="0" smtClean="0"/>
              <a:t> </a:t>
            </a:r>
            <a:r>
              <a:rPr lang="pt-PT" sz="2000" dirty="0" err="1" smtClean="0"/>
              <a:t>calculate</a:t>
            </a:r>
            <a:r>
              <a:rPr lang="pt-PT" sz="2000" dirty="0" smtClean="0"/>
              <a:t> </a:t>
            </a:r>
            <a:r>
              <a:rPr lang="pt-PT" sz="2000" dirty="0" err="1" smtClean="0"/>
              <a:t>the</a:t>
            </a:r>
            <a:r>
              <a:rPr lang="pt-PT" sz="2000" dirty="0" smtClean="0"/>
              <a:t> </a:t>
            </a:r>
            <a:r>
              <a:rPr lang="pt-PT" sz="2000" dirty="0" err="1" smtClean="0"/>
              <a:t>spatial</a:t>
            </a:r>
            <a:r>
              <a:rPr lang="pt-PT" sz="2000" dirty="0" smtClean="0"/>
              <a:t> </a:t>
            </a:r>
            <a:r>
              <a:rPr lang="pt-PT" sz="2000" dirty="0" err="1" smtClean="0"/>
              <a:t>resolution</a:t>
            </a:r>
            <a:r>
              <a:rPr lang="pt-PT" sz="2000" dirty="0" smtClean="0"/>
              <a:t> for </a:t>
            </a:r>
            <a:r>
              <a:rPr lang="pt-PT" sz="2000" dirty="0" err="1" smtClean="0"/>
              <a:t>different</a:t>
            </a:r>
            <a:r>
              <a:rPr lang="pt-PT" sz="2000" dirty="0" smtClean="0"/>
              <a:t> </a:t>
            </a:r>
            <a:r>
              <a:rPr lang="pt-PT" sz="2000" dirty="0" err="1" smtClean="0"/>
              <a:t>positions</a:t>
            </a:r>
            <a:r>
              <a:rPr lang="pt-PT" sz="2000" dirty="0" smtClean="0"/>
              <a:t> </a:t>
            </a:r>
            <a:r>
              <a:rPr lang="pt-PT" sz="2000" dirty="0" err="1" smtClean="0"/>
              <a:t>axially</a:t>
            </a:r>
            <a:r>
              <a:rPr lang="pt-PT" sz="2000" dirty="0" smtClean="0"/>
              <a:t> (NEMA </a:t>
            </a:r>
            <a:r>
              <a:rPr lang="pt-PT" sz="2000" dirty="0" err="1" smtClean="0"/>
              <a:t>would</a:t>
            </a:r>
            <a:r>
              <a:rPr lang="pt-PT" sz="2000" dirty="0" smtClean="0"/>
              <a:t> </a:t>
            </a:r>
            <a:r>
              <a:rPr lang="pt-PT" sz="2000" dirty="0" err="1" smtClean="0"/>
              <a:t>give</a:t>
            </a:r>
            <a:r>
              <a:rPr lang="pt-PT" sz="2000" dirty="0" smtClean="0"/>
              <a:t> </a:t>
            </a:r>
            <a:r>
              <a:rPr lang="pt-PT" sz="2000" dirty="0" err="1" smtClean="0"/>
              <a:t>two</a:t>
            </a:r>
            <a:r>
              <a:rPr lang="pt-PT" sz="2000" dirty="0" smtClean="0"/>
              <a:t> </a:t>
            </a:r>
            <a:r>
              <a:rPr lang="pt-PT" sz="2000" dirty="0" err="1" smtClean="0"/>
              <a:t>values</a:t>
            </a:r>
            <a:r>
              <a:rPr lang="pt-PT" sz="2000" dirty="0" smtClean="0"/>
              <a:t>, </a:t>
            </a:r>
            <a:r>
              <a:rPr lang="pt-PT" sz="2000" dirty="0" err="1" smtClean="0"/>
              <a:t>at</a:t>
            </a:r>
            <a:r>
              <a:rPr lang="pt-PT" sz="2000" dirty="0" smtClean="0"/>
              <a:t> </a:t>
            </a:r>
            <a:r>
              <a:rPr lang="pt-PT" sz="2000" dirty="0" err="1" smtClean="0"/>
              <a:t>center</a:t>
            </a:r>
            <a:r>
              <a:rPr lang="pt-PT" sz="2000" dirty="0" smtClean="0"/>
              <a:t> </a:t>
            </a:r>
            <a:r>
              <a:rPr lang="pt-PT" sz="2000" dirty="0" err="1" smtClean="0"/>
              <a:t>and</a:t>
            </a:r>
            <a:r>
              <a:rPr lang="pt-PT" sz="2000" dirty="0" smtClean="0"/>
              <a:t> </a:t>
            </a:r>
            <a:r>
              <a:rPr lang="pt-PT" sz="2000" dirty="0" err="1" smtClean="0"/>
              <a:t>at</a:t>
            </a:r>
            <a:r>
              <a:rPr lang="pt-PT" sz="2000" dirty="0" smtClean="0"/>
              <a:t> ¼ axial FOV). I can </a:t>
            </a:r>
            <a:r>
              <a:rPr lang="pt-PT" sz="2000" dirty="0" err="1" smtClean="0"/>
              <a:t>give</a:t>
            </a:r>
            <a:r>
              <a:rPr lang="pt-PT" sz="2000" dirty="0" smtClean="0"/>
              <a:t> </a:t>
            </a:r>
            <a:r>
              <a:rPr lang="pt-PT" sz="2000" dirty="0" err="1" smtClean="0"/>
              <a:t>those</a:t>
            </a:r>
            <a:r>
              <a:rPr lang="pt-PT" sz="2000" dirty="0" smtClean="0"/>
              <a:t> </a:t>
            </a:r>
            <a:r>
              <a:rPr lang="pt-PT" sz="2000" dirty="0" err="1" smtClean="0"/>
              <a:t>different</a:t>
            </a:r>
            <a:r>
              <a:rPr lang="pt-PT" sz="2000" dirty="0" smtClean="0"/>
              <a:t> axial </a:t>
            </a:r>
            <a:r>
              <a:rPr lang="pt-PT" sz="2000" dirty="0" err="1" smtClean="0"/>
              <a:t>values</a:t>
            </a:r>
            <a:r>
              <a:rPr lang="pt-PT" sz="2000" dirty="0" smtClean="0"/>
              <a:t>, </a:t>
            </a:r>
            <a:r>
              <a:rPr lang="pt-PT" sz="2000" dirty="0" err="1" smtClean="0"/>
              <a:t>if</a:t>
            </a:r>
            <a:r>
              <a:rPr lang="pt-PT" sz="2000" dirty="0" smtClean="0"/>
              <a:t> </a:t>
            </a:r>
            <a:r>
              <a:rPr lang="pt-PT" sz="2000" dirty="0" err="1" smtClean="0"/>
              <a:t>needed</a:t>
            </a:r>
            <a:r>
              <a:rPr lang="pt-PT" sz="2000" dirty="0" smtClean="0"/>
              <a:t>, </a:t>
            </a:r>
            <a:r>
              <a:rPr lang="pt-PT" sz="2000" dirty="0" err="1" smtClean="0"/>
              <a:t>but</a:t>
            </a:r>
            <a:r>
              <a:rPr lang="pt-PT" sz="2000" dirty="0" smtClean="0"/>
              <a:t> </a:t>
            </a:r>
            <a:r>
              <a:rPr lang="pt-PT" sz="2000" dirty="0" err="1" smtClean="0"/>
              <a:t>the</a:t>
            </a:r>
            <a:r>
              <a:rPr lang="pt-PT" sz="2000" dirty="0" smtClean="0"/>
              <a:t> </a:t>
            </a:r>
            <a:r>
              <a:rPr lang="pt-PT" sz="2000" dirty="0" err="1" smtClean="0"/>
              <a:t>conditions</a:t>
            </a:r>
            <a:r>
              <a:rPr lang="pt-PT" sz="2000" dirty="0" smtClean="0"/>
              <a:t> are </a:t>
            </a:r>
            <a:r>
              <a:rPr lang="pt-PT" sz="2000" dirty="0" err="1" smtClean="0"/>
              <a:t>not</a:t>
            </a:r>
            <a:r>
              <a:rPr lang="pt-PT" sz="2000" dirty="0" smtClean="0"/>
              <a:t> NEMA (</a:t>
            </a:r>
            <a:r>
              <a:rPr lang="pt-PT" sz="2000" dirty="0" err="1" smtClean="0"/>
              <a:t>line</a:t>
            </a:r>
            <a:r>
              <a:rPr lang="pt-PT" sz="2000" dirty="0" smtClean="0"/>
              <a:t> </a:t>
            </a:r>
            <a:r>
              <a:rPr lang="pt-PT" sz="2000" dirty="0" err="1" smtClean="0"/>
              <a:t>source</a:t>
            </a:r>
            <a:r>
              <a:rPr lang="pt-PT" sz="2000" dirty="0" smtClean="0"/>
              <a:t> </a:t>
            </a:r>
            <a:r>
              <a:rPr lang="pt-PT" sz="2000" dirty="0" err="1" smtClean="0"/>
              <a:t>instead</a:t>
            </a:r>
            <a:r>
              <a:rPr lang="pt-PT" sz="2000" dirty="0" smtClean="0"/>
              <a:t> </a:t>
            </a:r>
            <a:r>
              <a:rPr lang="pt-PT" sz="2000" dirty="0" err="1" smtClean="0"/>
              <a:t>of</a:t>
            </a:r>
            <a:r>
              <a:rPr lang="pt-PT" sz="2000" dirty="0" smtClean="0"/>
              <a:t> </a:t>
            </a:r>
            <a:r>
              <a:rPr lang="pt-PT" sz="2000" dirty="0" err="1" smtClean="0"/>
              <a:t>point</a:t>
            </a:r>
            <a:r>
              <a:rPr lang="pt-PT" sz="2000" dirty="0" smtClean="0"/>
              <a:t> </a:t>
            </a:r>
            <a:r>
              <a:rPr lang="pt-PT" sz="2000" dirty="0" err="1" smtClean="0"/>
              <a:t>source</a:t>
            </a:r>
            <a:r>
              <a:rPr lang="pt-PT" sz="2000" dirty="0" smtClean="0"/>
              <a:t>).</a:t>
            </a:r>
            <a:endParaRPr lang="pt-PT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30975" t="26068" r="41259" b="6075"/>
          <a:stretch/>
        </p:blipFill>
        <p:spPr>
          <a:xfrm>
            <a:off x="7072009" y="136188"/>
            <a:ext cx="5000016" cy="66187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CaixaDeTexto 4"/>
          <p:cNvSpPr txBox="1"/>
          <p:nvPr/>
        </p:nvSpPr>
        <p:spPr>
          <a:xfrm>
            <a:off x="7354110" y="1388825"/>
            <a:ext cx="3062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 smtClean="0">
                <a:solidFill>
                  <a:schemeClr val="accent1"/>
                </a:solidFill>
              </a:rPr>
              <a:t>1 cm </a:t>
            </a:r>
            <a:r>
              <a:rPr lang="pt-PT" dirty="0" err="1" smtClean="0">
                <a:solidFill>
                  <a:schemeClr val="accent1"/>
                </a:solidFill>
              </a:rPr>
              <a:t>vertically</a:t>
            </a:r>
            <a:r>
              <a:rPr lang="pt-PT" dirty="0" smtClean="0">
                <a:solidFill>
                  <a:schemeClr val="accent1"/>
                </a:solidFill>
              </a:rPr>
              <a:t> </a:t>
            </a:r>
            <a:r>
              <a:rPr lang="pt-PT" dirty="0" err="1" smtClean="0">
                <a:solidFill>
                  <a:schemeClr val="accent1"/>
                </a:solidFill>
              </a:rPr>
              <a:t>from</a:t>
            </a:r>
            <a:r>
              <a:rPr lang="pt-PT" dirty="0" smtClean="0">
                <a:solidFill>
                  <a:schemeClr val="accent1"/>
                </a:solidFill>
              </a:rPr>
              <a:t> </a:t>
            </a:r>
            <a:r>
              <a:rPr lang="pt-PT" dirty="0" err="1" smtClean="0">
                <a:solidFill>
                  <a:schemeClr val="accent1"/>
                </a:solidFill>
              </a:rPr>
              <a:t>the</a:t>
            </a:r>
            <a:r>
              <a:rPr lang="pt-PT" dirty="0" smtClean="0">
                <a:solidFill>
                  <a:schemeClr val="accent1"/>
                </a:solidFill>
              </a:rPr>
              <a:t> </a:t>
            </a:r>
            <a:r>
              <a:rPr lang="pt-PT" dirty="0" err="1" smtClean="0">
                <a:solidFill>
                  <a:schemeClr val="accent1"/>
                </a:solidFill>
              </a:rPr>
              <a:t>center</a:t>
            </a:r>
            <a:endParaRPr lang="pt-PT" dirty="0">
              <a:solidFill>
                <a:schemeClr val="accent1"/>
              </a:solidFill>
            </a:endParaRPr>
          </a:p>
        </p:txBody>
      </p:sp>
      <p:cxnSp>
        <p:nvCxnSpPr>
          <p:cNvPr id="7" name="Conexão reta unidirecional 6"/>
          <p:cNvCxnSpPr/>
          <p:nvPr/>
        </p:nvCxnSpPr>
        <p:spPr>
          <a:xfrm>
            <a:off x="8891081" y="1825625"/>
            <a:ext cx="1682885" cy="479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9109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111821</TotalTime>
  <Words>905</Words>
  <Application>Microsoft Office PowerPoint</Application>
  <PresentationFormat>Ecrã Panorâmico</PresentationFormat>
  <Paragraphs>102</Paragraphs>
  <Slides>56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56</vt:i4>
      </vt:variant>
    </vt:vector>
  </HeadingPairs>
  <TitlesOfParts>
    <vt:vector size="62" baseType="lpstr">
      <vt:lpstr>Arial</vt:lpstr>
      <vt:lpstr>Calibri</vt:lpstr>
      <vt:lpstr>Calibri Light</vt:lpstr>
      <vt:lpstr>Nirmala UI</vt:lpstr>
      <vt:lpstr>Wingdings</vt:lpstr>
      <vt:lpstr>Tema do Office</vt:lpstr>
      <vt:lpstr>Image reconstruction 28/7/2024, TPPT project</vt:lpstr>
      <vt:lpstr>Summary</vt:lpstr>
      <vt:lpstr>Limitations</vt:lpstr>
      <vt:lpstr>Apresentação do PowerPoint</vt:lpstr>
      <vt:lpstr>Method</vt:lpstr>
      <vt:lpstr>Regarding the sinograms:</vt:lpstr>
      <vt:lpstr>Regarding the FBP algorithm:</vt:lpstr>
      <vt:lpstr>Results</vt:lpstr>
      <vt:lpstr>Summary</vt:lpstr>
      <vt:lpstr>Apresentação do PowerPoint</vt:lpstr>
      <vt:lpstr>Results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Results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Results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Results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Results</vt:lpstr>
      <vt:lpstr>Apresentação do PowerPoint</vt:lpstr>
      <vt:lpstr>Apresentação do PowerPoint</vt:lpstr>
      <vt:lpstr>Apresentação do PowerPoint</vt:lpstr>
      <vt:lpstr>Apresentação do PowerPoint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format for TPPT project (acquisition / simulation  image reconstruction)</dc:title>
  <dc:creator>Utilizador</dc:creator>
  <cp:lastModifiedBy>Utilizador</cp:lastModifiedBy>
  <cp:revision>3873</cp:revision>
  <cp:lastPrinted>2023-02-09T17:08:39Z</cp:lastPrinted>
  <dcterms:created xsi:type="dcterms:W3CDTF">2021-07-26T16:23:28Z</dcterms:created>
  <dcterms:modified xsi:type="dcterms:W3CDTF">2024-07-28T22:59:25Z</dcterms:modified>
</cp:coreProperties>
</file>